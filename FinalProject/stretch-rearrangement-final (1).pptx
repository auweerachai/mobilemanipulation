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having us. I'm presenting our 16-762 final project: an end-to-end object rearrangement system on the Stretch 3 mobile manipulator. In short, an operator gives the robot a natural-language instruction like 'put the orange cup in region B,' and the robot autonomously navigates around an apartment, picks up the right objects, and places them in the right regions. I'll walk through our motivation, the system architecture, each of the three main modules, and then our evaluation and live-ish demo. About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is simple. Household rearrangement is still one of the least-solved mobile manipulation problems. It stitches together everything hard: SLAM, semantic perception, long-horizon task planning, visual servoing, and manipulation under uncertainty. And unlike a tabletop pick-and-place, the robot has to drive across a room, re-localize, and then grasp something that may have moved since it was last seen. Our question was: given a Stretch 3, a Gemini-class VLM, and about ten weeks, can we build a system that actually does this end-to-end in a real apartment?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the task is: the operator pre-builds an occupancy map of a room, annotates a handful of semantic regions like A, B, C, D — think 'the coffee table' or 'the counter' — and snapshots where every target object starts. Then at runtime they give a free-form instruction. The robot has to interpret the instruction, pick each object up off a surface, drive to the correct region, and place it there. Our assumptions: objects are small, graspable cups and bottles; the map is static; and we assume good lighting for the RGB-D cameras.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lay of the land. We drew on three threads. HomeRobot and TidyBot showed end-to-end open-vocabulary rearrangement is possible with LLM planners. The Stretch ecosystem — stretch_nav2, stretch_core — gave us a solid Nav2 + AMCL stack for free. And recent open-vocabulary detectors like YOLOE and the D405 gripper camera on Stretch 3 are what make our two-stage visual grasp pipeline feasible at all. Our contribution is how we glue these together into a reliable system, not any one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on one slide. Three loosely-coupled ROS 2 nodes, connected by standard message types — no custom messages. The task planner is a Gemini-2.5-flash VLM that turns the instruction plus the scene into an ordered pick-place plan. The task executor is the coordinator: it issues nav goals, waits for arrival, issues pick or place, waits for completion, and moves on. Navigation wraps stretch_nav2. Manipulation is our two-stage visual grasp. The key design choice was keeping each module behind a thin topic contract so we could develop and test them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is offline: we build the map. We run stretch_nav2's offline mapping, teleop the robot around the room, and simultaneously run a YOLOE detector on the head D435i camera. Every time it sees a target object, it latches that object's position in the map frame. When we're done, a single service call snapshots all the positions into a YAML file, and we save the occupancy map. So the robot starts every run knowing roughly where everything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is a five-minute manual step. We open the map in RViz, click 'Publish Point' on the corners of each region we care about, and drop those vertices into a YAML file. Each region is a CCW polygon plus a place_anchor — the pose the robot will drive to when it wants to place something there. We chose this over learning regions because for a course project, a human in the loop here is far more reliable than a clustering heuristic, and it takes five minutes per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runtime, the VLM planner does the heavy lifting. It receives the robot's current pose, the detected object list with positions and which region they're currently in, the region polygons and place anchors, and the operator's free-form instruction. We prompt Gemini-2.5-flash to output a strict JSON plan: an ordered list of (object, target_region) tuples that minimizes travel distance. The prompt enforces exact-match object labels and region names, skips already-placed objects, and retries on malformed output. Importantly, we can also pass a context image so the VLM can break ties the pose list alone can't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navigation coordinator is the glue. It's a small state machine: it holds the pose array from the planner, and when the executor says 'proceed,' it dispatches goal i to Nav2. Instead of waiting for Nav2 to drive all the way to the pose — Nav2 will happily try to plan into the exact place_anchor, which is often too close to a wall — we poll TF and cancel Nav2 as soon as the base is within one meter of the goal. Then we publish 'arrived' and wait. This cancel-early pattern is what makes handoff to manipulation clean and fast, and it's tolerant to Nav2 stalls.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Grasping was the part we iterated on the most, and we ended up with something simpler than we expected. Every pick starts by driving the arm to a single fixed joint configuration — same lift, same extension, same wrist pitch — that points the gripper, and the D405 camera on it, straight at the object sitting on the surface. Because Nav2 has already placed the base within a known tolerance of the pick anchor, this open-loop pre-pose is enough to reliably get the object into the D405's field of view. From there, the gripper camera takes over: it publishes a refined 3D pose, and we IK-step the hand toward it until we're within six centimeters, apply a small grasp offset, close, and retract. No head-camera IK loop, no parallax problem — just a fixed pose and one tight closed-loop servo.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walking through a stage-by-stage table, let me just show you the full thing running. This is an end-to-end run on real hardware: the operator types an instruction, the VLM plans, the robot navigates across the room, picks up the cup, drives to the target region, and places it — then goes back for the second object. One take, no cuts. Watch the handoffs between modules — you can see the base stopping about a meter out, the gripper servoing in, and the D405 view taking over for the final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breaks and what's next. Failure modes cluster in three places: reflective or thin objects that confuse the D405 depth, cluttered pick poses where our grasp offset is wrong, and VLM plans that occasionally hallucinate a region name despite the prompt constraints. Near-term fixes: a learned grasp predictor to replace the hand-tuned shift_x/y/z offsets; a replanning loop when the detector re-finds a moved object; and a small finetune on the VLM for the JSON schema. Longer-term, we want to remove the manual region annotation step with a VLM-driven region proposer.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8"/>
        </a:solidFill>
      </p:bgPr>
    </p:bg>
    <p:spTree>
      <p:nvGrpSpPr>
        <p:cNvPr id="1" name=""/>
        <p:cNvGrpSpPr/>
        <p:nvPr/>
      </p:nvGrpSpPr>
      <p:grpSpPr>
        <a:xfrm>
          <a:off x="0" y="0"/>
          <a:ext cx="0" cy="0"/>
          <a:chOff x="0" y="0"/>
          <a:chExt cx="0" cy="0"/>
        </a:xfrm>
      </p:grpSpPr>
      <p:sp>
        <p:nvSpPr>
          <p:cNvPr id="2" name="Text 0"/>
          <p:cNvSpPr/>
          <p:nvPr/>
        </p:nvSpPr>
        <p:spPr>
          <a:xfrm>
            <a:off x="952500" y="762000"/>
            <a:ext cx="3761733" cy="352425"/>
          </a:xfrm>
          <a:prstGeom prst="rect">
            <a:avLst/>
          </a:prstGeom>
          <a:noFill/>
          <a:ln/>
        </p:spPr>
        <p:txBody>
          <a:bodyPr wrap="square" lIns="25400" tIns="25400" rIns="25400" bIns="25400" rtlCol="0" anchor="t">
            <a:normAutofit/>
          </a:bodyPr>
          <a:lstStyle/>
          <a:p>
            <a:pPr algn="l" indent="0" marL="0">
              <a:buNone/>
            </a:pPr>
            <a:r>
              <a:rPr lang="en-US" sz="1800" b="1" spc="36" kern="0" dirty="0">
                <a:solidFill>
                  <a:srgbClr val="15171A"/>
                </a:solidFill>
                <a:latin typeface="Source Serif 4" pitchFamily="34" charset="0"/>
                <a:ea typeface="Source Serif 4" pitchFamily="34" charset="-122"/>
                <a:cs typeface="Source Serif 4" pitchFamily="34" charset="-120"/>
              </a:rPr>
              <a:t>Carnegie Mellon University</a:t>
            </a:r>
            <a:endParaRPr lang="en-US" sz="1800" dirty="0"/>
          </a:p>
        </p:txBody>
      </p:sp>
      <p:sp>
        <p:nvSpPr>
          <p:cNvPr id="3" name="Text 1"/>
          <p:cNvSpPr/>
          <p:nvPr/>
        </p:nvSpPr>
        <p:spPr>
          <a:xfrm>
            <a:off x="11190684" y="762000"/>
            <a:ext cx="6329160" cy="338138"/>
          </a:xfrm>
          <a:prstGeom prst="rect">
            <a:avLst/>
          </a:prstGeom>
          <a:noFill/>
          <a:ln/>
        </p:spPr>
        <p:txBody>
          <a:bodyPr wrap="square" lIns="25400" tIns="25400" rIns="25400" bIns="25400" rtlCol="0" anchor="t">
            <a:normAutofit/>
          </a:bodyPr>
          <a:lstStyle/>
          <a:p>
            <a:pPr algn="l" indent="0" marL="0">
              <a:buNone/>
            </a:pPr>
            <a:r>
              <a:rPr lang="en-US" sz="1800" spc="72" kern="0" dirty="0">
                <a:solidFill>
                  <a:srgbClr val="C41230"/>
                </a:solidFill>
                <a:latin typeface="JetBrains Mono" pitchFamily="34" charset="0"/>
                <a:ea typeface="JetBrains Mono" pitchFamily="34" charset="-122"/>
                <a:cs typeface="JetBrains Mono" pitchFamily="34" charset="-120"/>
              </a:rPr>
              <a:t>16-762 · Mobile Manipulation · Spring 2026</a:t>
            </a:r>
            <a:endParaRPr lang="en-US" sz="1800" dirty="0"/>
          </a:p>
        </p:txBody>
      </p:sp>
      <p:sp>
        <p:nvSpPr>
          <p:cNvPr id="4" name="Text 2"/>
          <p:cNvSpPr/>
          <p:nvPr/>
        </p:nvSpPr>
        <p:spPr>
          <a:xfrm>
            <a:off x="952500" y="2919040"/>
            <a:ext cx="16874490" cy="366713"/>
          </a:xfrm>
          <a:prstGeom prst="rect">
            <a:avLst/>
          </a:prstGeom>
          <a:noFill/>
          <a:ln/>
        </p:spPr>
        <p:txBody>
          <a:bodyPr wrap="square" lIns="25400" tIns="25400" rIns="25400" bIns="25400" rtlCol="0" anchor="t">
            <a:normAutofit/>
          </a:bodyPr>
          <a:lstStyle/>
          <a:p>
            <a:pPr algn="l" indent="0" marL="0">
              <a:buNone/>
            </a:pPr>
            <a:r>
              <a:rPr lang="en-US" sz="1950" spc="390" kern="0" dirty="0">
                <a:solidFill>
                  <a:srgbClr val="C41230"/>
                </a:solidFill>
                <a:latin typeface="JetBrains Mono" pitchFamily="34" charset="0"/>
                <a:ea typeface="JetBrains Mono" pitchFamily="34" charset="-122"/>
                <a:cs typeface="JetBrains Mono" pitchFamily="34" charset="-120"/>
              </a:rPr>
              <a:t>FINAL PROJECT PRESENTATION</a:t>
            </a:r>
            <a:endParaRPr lang="en-US" sz="1950" dirty="0"/>
          </a:p>
        </p:txBody>
      </p:sp>
      <p:sp>
        <p:nvSpPr>
          <p:cNvPr id="5" name="Text 3"/>
          <p:cNvSpPr/>
          <p:nvPr/>
        </p:nvSpPr>
        <p:spPr>
          <a:xfrm>
            <a:off x="952500" y="3476253"/>
            <a:ext cx="15697200" cy="2354461"/>
          </a:xfrm>
          <a:prstGeom prst="rect">
            <a:avLst/>
          </a:prstGeom>
          <a:noFill/>
          <a:ln/>
        </p:spPr>
        <p:txBody>
          <a:bodyPr wrap="square" lIns="25400" tIns="25400" rIns="25400" bIns="25400" rtlCol="0" anchor="t">
            <a:normAutofit/>
          </a:bodyPr>
          <a:lstStyle/>
          <a:p>
            <a:pPr algn="l" indent="0" marL="0">
              <a:lnSpc>
                <a:spcPct val="95000"/>
              </a:lnSpc>
              <a:buNone/>
            </a:pPr>
            <a:r>
              <a:rPr lang="en-US" sz="9600" b="1" spc="-288" kern="0" dirty="0">
                <a:solidFill>
                  <a:srgbClr val="FFFFFF"/>
                </a:solidFill>
                <a:latin typeface="Source Serif 4" pitchFamily="34" charset="0"/>
                <a:ea typeface="Source Serif 4" pitchFamily="34" charset="-122"/>
                <a:cs typeface="Source Serif 4" pitchFamily="34" charset="-120"/>
              </a:rPr>
              <a:t>Stretch 3 Object Rearrangement</a:t>
            </a:r>
            <a:endParaRPr lang="en-US" sz="9600" dirty="0"/>
          </a:p>
        </p:txBody>
      </p:sp>
      <p:sp>
        <p:nvSpPr>
          <p:cNvPr id="6" name="Shape 4"/>
          <p:cNvSpPr/>
          <p:nvPr/>
        </p:nvSpPr>
        <p:spPr>
          <a:xfrm>
            <a:off x="952500" y="6097414"/>
            <a:ext cx="2476500" cy="57150"/>
          </a:xfrm>
          <a:prstGeom prst="rect">
            <a:avLst/>
          </a:prstGeom>
          <a:solidFill>
            <a:srgbClr val="C41230"/>
          </a:solidFill>
          <a:ln/>
        </p:spPr>
      </p:sp>
      <p:sp>
        <p:nvSpPr>
          <p:cNvPr id="7" name="Text 5"/>
          <p:cNvSpPr/>
          <p:nvPr/>
        </p:nvSpPr>
        <p:spPr>
          <a:xfrm>
            <a:off x="952500" y="6383164"/>
            <a:ext cx="13735050" cy="860971"/>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3A3E45"/>
                </a:solidFill>
                <a:latin typeface="-apple-system" pitchFamily="34" charset="0"/>
                <a:ea typeface="-apple-system" pitchFamily="34" charset="-122"/>
                <a:cs typeface="-apple-system" pitchFamily="34" charset="-120"/>
              </a:rPr>
              <a:t>A three-module ROS 2 system for natural-language, VLM-planned pick-and-place on a mobile manipulator.</a:t>
            </a:r>
            <a:endParaRPr lang="en-US" sz="2400" dirty="0"/>
          </a:p>
        </p:txBody>
      </p:sp>
      <p:sp>
        <p:nvSpPr>
          <p:cNvPr id="8" name="Text 6"/>
          <p:cNvSpPr/>
          <p:nvPr/>
        </p:nvSpPr>
        <p:spPr>
          <a:xfrm>
            <a:off x="952500" y="8858250"/>
            <a:ext cx="3537235" cy="300038"/>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6B6F77"/>
                </a:solidFill>
                <a:latin typeface="-apple-system" pitchFamily="34" charset="0"/>
                <a:ea typeface="-apple-system" pitchFamily="34" charset="-122"/>
                <a:cs typeface="-apple-system" pitchFamily="34" charset="-120"/>
              </a:rPr>
              <a:t>TEAM</a:t>
            </a:r>
            <a:endParaRPr lang="en-US" sz="1800" dirty="0"/>
          </a:p>
        </p:txBody>
      </p:sp>
      <p:sp>
        <p:nvSpPr>
          <p:cNvPr id="9" name="Text 7"/>
          <p:cNvSpPr/>
          <p:nvPr/>
        </p:nvSpPr>
        <p:spPr>
          <a:xfrm>
            <a:off x="952500" y="9215438"/>
            <a:ext cx="3537235" cy="347663"/>
          </a:xfrm>
          <a:prstGeom prst="rect">
            <a:avLst/>
          </a:prstGeom>
          <a:noFill/>
          <a:ln/>
        </p:spPr>
        <p:txBody>
          <a:bodyPr wrap="square" lIns="25400" tIns="25400" rIns="25400" bIns="25400" rtlCol="0" anchor="t">
            <a:normAutofit/>
          </a:bodyPr>
          <a:lstStyle/>
          <a:p>
            <a:pPr algn="l" indent="0" marL="0">
              <a:buNone/>
            </a:pPr>
            <a:r>
              <a:rPr lang="en-US" sz="2100" dirty="0">
                <a:solidFill>
                  <a:srgbClr val="15171A"/>
                </a:solidFill>
                <a:latin typeface="-apple-system" pitchFamily="34" charset="0"/>
                <a:ea typeface="-apple-system" pitchFamily="34" charset="-122"/>
                <a:cs typeface="-apple-system" pitchFamily="34" charset="-120"/>
              </a:rPr>
              <a:t>Haokun · Jinyao · Weerachai</a:t>
            </a:r>
            <a:endParaRPr lang="en-US" sz="2100" dirty="0"/>
          </a:p>
        </p:txBody>
      </p:sp>
      <p:sp>
        <p:nvSpPr>
          <p:cNvPr id="10" name="Text 8"/>
          <p:cNvSpPr/>
          <p:nvPr/>
        </p:nvSpPr>
        <p:spPr>
          <a:xfrm>
            <a:off x="5148709" y="8858250"/>
            <a:ext cx="2611189" cy="300038"/>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6B6F77"/>
                </a:solidFill>
                <a:latin typeface="-apple-system" pitchFamily="34" charset="0"/>
                <a:ea typeface="-apple-system" pitchFamily="34" charset="-122"/>
                <a:cs typeface="-apple-system" pitchFamily="34" charset="-120"/>
              </a:rPr>
              <a:t>PLATFORM</a:t>
            </a:r>
            <a:endParaRPr lang="en-US" sz="1800" dirty="0"/>
          </a:p>
        </p:txBody>
      </p:sp>
      <p:sp>
        <p:nvSpPr>
          <p:cNvPr id="11" name="Text 9"/>
          <p:cNvSpPr/>
          <p:nvPr/>
        </p:nvSpPr>
        <p:spPr>
          <a:xfrm>
            <a:off x="5148709" y="9215438"/>
            <a:ext cx="2611189" cy="347663"/>
          </a:xfrm>
          <a:prstGeom prst="rect">
            <a:avLst/>
          </a:prstGeom>
          <a:noFill/>
          <a:ln/>
        </p:spPr>
        <p:txBody>
          <a:bodyPr wrap="square" lIns="25400" tIns="25400" rIns="25400" bIns="25400" rtlCol="0" anchor="t">
            <a:normAutofit/>
          </a:bodyPr>
          <a:lstStyle/>
          <a:p>
            <a:pPr algn="l" indent="0" marL="0">
              <a:buNone/>
            </a:pPr>
            <a:r>
              <a:rPr lang="en-US" sz="2100" dirty="0">
                <a:solidFill>
                  <a:srgbClr val="15171A"/>
                </a:solidFill>
                <a:latin typeface="-apple-system" pitchFamily="34" charset="0"/>
                <a:ea typeface="-apple-system" pitchFamily="34" charset="-122"/>
                <a:cs typeface="-apple-system" pitchFamily="34" charset="-120"/>
              </a:rPr>
              <a:t>Hello Robot Stretch 3</a:t>
            </a:r>
            <a:endParaRPr lang="en-US" sz="2100" dirty="0"/>
          </a:p>
        </p:txBody>
      </p:sp>
      <p:sp>
        <p:nvSpPr>
          <p:cNvPr id="12" name="Text 10"/>
          <p:cNvSpPr/>
          <p:nvPr/>
        </p:nvSpPr>
        <p:spPr>
          <a:xfrm>
            <a:off x="8445698" y="8858250"/>
            <a:ext cx="1277169" cy="300038"/>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6B6F77"/>
                </a:solidFill>
                <a:latin typeface="-apple-system" pitchFamily="34" charset="0"/>
                <a:ea typeface="-apple-system" pitchFamily="34" charset="-122"/>
                <a:cs typeface="-apple-system" pitchFamily="34" charset="-120"/>
              </a:rPr>
              <a:t>DATE</a:t>
            </a:r>
            <a:endParaRPr lang="en-US" sz="1800" dirty="0"/>
          </a:p>
        </p:txBody>
      </p:sp>
      <p:sp>
        <p:nvSpPr>
          <p:cNvPr id="13" name="Text 11"/>
          <p:cNvSpPr/>
          <p:nvPr/>
        </p:nvSpPr>
        <p:spPr>
          <a:xfrm>
            <a:off x="8445698" y="9215438"/>
            <a:ext cx="1277169" cy="347663"/>
          </a:xfrm>
          <a:prstGeom prst="rect">
            <a:avLst/>
          </a:prstGeom>
          <a:noFill/>
          <a:ln/>
        </p:spPr>
        <p:txBody>
          <a:bodyPr wrap="square" lIns="25400" tIns="25400" rIns="25400" bIns="25400" rtlCol="0" anchor="t">
            <a:normAutofit/>
          </a:bodyPr>
          <a:lstStyle/>
          <a:p>
            <a:pPr algn="l" indent="0" marL="0">
              <a:buNone/>
            </a:pPr>
            <a:r>
              <a:rPr lang="en-US" sz="2100" dirty="0">
                <a:solidFill>
                  <a:srgbClr val="15171A"/>
                </a:solidFill>
                <a:latin typeface="-apple-system" pitchFamily="34" charset="0"/>
                <a:ea typeface="-apple-system" pitchFamily="34" charset="-122"/>
                <a:cs typeface="-apple-system" pitchFamily="34" charset="-120"/>
              </a:rPr>
              <a:t>April 2026</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8"/>
        </a:solidFill>
      </p:bgPr>
    </p:bg>
    <p:spTree>
      <p:nvGrpSpPr>
        <p:cNvPr id="1" name=""/>
        <p:cNvGrpSpPr/>
        <p:nvPr/>
      </p:nvGrpSpPr>
      <p:grpSpPr>
        <a:xfrm>
          <a:off x="0" y="0"/>
          <a:ext cx="0" cy="0"/>
          <a:chOff x="0" y="0"/>
          <a:chExt cx="0" cy="0"/>
        </a:xfrm>
      </p:grpSpPr>
      <p:sp>
        <p:nvSpPr>
          <p:cNvPr id="2" name="Text 0"/>
          <p:cNvSpPr/>
          <p:nvPr/>
        </p:nvSpPr>
        <p:spPr>
          <a:xfrm>
            <a:off x="952500" y="419100"/>
            <a:ext cx="146432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MOTIVATION</a:t>
            </a:r>
            <a:endParaRPr lang="en-US" sz="1350" dirty="0"/>
          </a:p>
        </p:txBody>
      </p:sp>
      <p:sp>
        <p:nvSpPr>
          <p:cNvPr id="3" name="Text 1"/>
          <p:cNvSpPr/>
          <p:nvPr/>
        </p:nvSpPr>
        <p:spPr>
          <a:xfrm>
            <a:off x="16715110" y="419100"/>
            <a:ext cx="69659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01 / 12</a:t>
            </a:r>
            <a:endParaRPr lang="en-US" sz="1350" dirty="0"/>
          </a:p>
        </p:txBody>
      </p:sp>
      <p:sp>
        <p:nvSpPr>
          <p:cNvPr id="4" name="Text 2"/>
          <p:cNvSpPr/>
          <p:nvPr/>
        </p:nvSpPr>
        <p:spPr>
          <a:xfrm>
            <a:off x="952500" y="3553867"/>
            <a:ext cx="8427894" cy="335607"/>
          </a:xfrm>
          <a:prstGeom prst="rect">
            <a:avLst/>
          </a:prstGeom>
          <a:noFill/>
          <a:ln/>
        </p:spPr>
        <p:txBody>
          <a:bodyPr wrap="square" lIns="25400" tIns="25400" rIns="25400" bIns="25400" rtlCol="0" anchor="ctr">
            <a:normAutofit/>
          </a:bodyPr>
          <a:lstStyle/>
          <a:p>
            <a:pPr algn="l" indent="0" marL="0">
              <a:lnSpc>
                <a:spcPct val="142000"/>
              </a:lnSpc>
              <a:buNone/>
            </a:pPr>
            <a:r>
              <a:rPr lang="en-US" sz="1650" b="1" spc="264" kern="0" dirty="0">
                <a:solidFill>
                  <a:srgbClr val="C41230"/>
                </a:solidFill>
                <a:latin typeface="-apple-system" pitchFamily="34" charset="0"/>
                <a:ea typeface="-apple-system" pitchFamily="34" charset="-122"/>
                <a:cs typeface="-apple-system" pitchFamily="34" charset="-120"/>
              </a:rPr>
              <a:t>A LONG-STANDING PROBLEM</a:t>
            </a:r>
            <a:endParaRPr lang="en-US" sz="1650" dirty="0"/>
          </a:p>
        </p:txBody>
      </p:sp>
      <p:sp>
        <p:nvSpPr>
          <p:cNvPr id="5" name="Text 3"/>
          <p:cNvSpPr/>
          <p:nvPr/>
        </p:nvSpPr>
        <p:spPr>
          <a:xfrm>
            <a:off x="952500" y="4118074"/>
            <a:ext cx="8427894" cy="3185815"/>
          </a:xfrm>
          <a:prstGeom prst="rect">
            <a:avLst/>
          </a:prstGeom>
          <a:noFill/>
          <a:ln/>
        </p:spPr>
        <p:txBody>
          <a:bodyPr wrap="square" lIns="25400" tIns="25400" rIns="25400" bIns="25400" rtlCol="0" anchor="t">
            <a:normAutofit/>
          </a:bodyPr>
          <a:lstStyle/>
          <a:p>
            <a:pPr algn="l" indent="0" marL="0">
              <a:lnSpc>
                <a:spcPct val="102000"/>
              </a:lnSpc>
              <a:buNone/>
            </a:pPr>
            <a:r>
              <a:rPr lang="en-US" sz="8100" b="1" spc="-162" kern="0" dirty="0">
                <a:solidFill>
                  <a:srgbClr val="15171A"/>
                </a:solidFill>
                <a:latin typeface="Source Serif 4" pitchFamily="34" charset="0"/>
                <a:ea typeface="Source Serif 4" pitchFamily="34" charset="-122"/>
                <a:cs typeface="Source Serif 4" pitchFamily="34" charset="-120"/>
              </a:rPr>
              <a:t>Tidying a room is still unsolved.</a:t>
            </a:r>
            <a:endParaRPr lang="en-US" sz="8100" dirty="0"/>
          </a:p>
        </p:txBody>
      </p:sp>
      <p:sp>
        <p:nvSpPr>
          <p:cNvPr id="6" name="Text 4"/>
          <p:cNvSpPr/>
          <p:nvPr/>
        </p:nvSpPr>
        <p:spPr>
          <a:xfrm>
            <a:off x="952500" y="7570589"/>
            <a:ext cx="8427894" cy="1992511"/>
          </a:xfrm>
          <a:prstGeom prst="rect">
            <a:avLst/>
          </a:prstGeom>
          <a:noFill/>
          <a:ln/>
        </p:spPr>
        <p:txBody>
          <a:bodyPr wrap="square" lIns="25400" tIns="25400" rIns="25400" bIns="25400" rtlCol="0" anchor="t">
            <a:normAutofit/>
          </a:bodyPr>
          <a:lstStyle/>
          <a:p>
            <a:pPr algn="l" indent="0" marL="0">
              <a:lnSpc>
                <a:spcPct val="135000"/>
              </a:lnSpc>
              <a:buNone/>
            </a:pPr>
            <a:r>
              <a:rPr lang="en-US" sz="2850" dirty="0">
                <a:solidFill>
                  <a:srgbClr val="15171A"/>
                </a:solidFill>
                <a:latin typeface="-apple-system" pitchFamily="34" charset="0"/>
                <a:ea typeface="-apple-system" pitchFamily="34" charset="-122"/>
                <a:cs typeface="-apple-system" pitchFamily="34" charset="-120"/>
              </a:rPr>
              <a:t>Rearrangement stitches together SLAM, semantic perception, long-horizon planning, and manipulation under uncertainty — the full mobile-manipulation stack, end to end.</a:t>
            </a:r>
            <a:endParaRPr lang="en-US" sz="2850" dirty="0"/>
          </a:p>
        </p:txBody>
      </p:sp>
      <p:sp>
        <p:nvSpPr>
          <p:cNvPr id="7" name="Shape 5"/>
          <p:cNvSpPr/>
          <p:nvPr/>
        </p:nvSpPr>
        <p:spPr>
          <a:xfrm>
            <a:off x="9896921" y="3652391"/>
            <a:ext cx="7438579" cy="38100"/>
          </a:xfrm>
          <a:prstGeom prst="rect">
            <a:avLst/>
          </a:prstGeom>
          <a:solidFill>
            <a:srgbClr val="C41230"/>
          </a:solidFill>
          <a:ln/>
        </p:spPr>
      </p:sp>
      <p:sp>
        <p:nvSpPr>
          <p:cNvPr id="8" name="Text 6"/>
          <p:cNvSpPr/>
          <p:nvPr/>
        </p:nvSpPr>
        <p:spPr>
          <a:xfrm>
            <a:off x="9896921" y="3609529"/>
            <a:ext cx="1407616" cy="1709738"/>
          </a:xfrm>
          <a:prstGeom prst="rect">
            <a:avLst/>
          </a:prstGeom>
          <a:noFill/>
          <a:ln/>
        </p:spPr>
        <p:txBody>
          <a:bodyPr wrap="square" lIns="25400" tIns="25400" rIns="25400" bIns="25400" rtlCol="0" anchor="t">
            <a:normAutofit/>
          </a:bodyPr>
          <a:lstStyle/>
          <a:p>
            <a:pPr algn="l" indent="0" marL="0">
              <a:lnSpc>
                <a:spcPct val="90000"/>
              </a:lnSpc>
              <a:buNone/>
            </a:pPr>
            <a:r>
              <a:rPr lang="en-US" sz="9600" b="1" spc="-192" kern="0" dirty="0">
                <a:solidFill>
                  <a:srgbClr val="15171A"/>
                </a:solidFill>
                <a:latin typeface="Source Serif 4" pitchFamily="34" charset="0"/>
                <a:ea typeface="Source Serif 4" pitchFamily="34" charset="-122"/>
                <a:cs typeface="Source Serif 4" pitchFamily="34" charset="-120"/>
              </a:rPr>
              <a:t>5+</a:t>
            </a:r>
            <a:endParaRPr lang="en-US" sz="9600" dirty="0"/>
          </a:p>
        </p:txBody>
      </p:sp>
      <p:sp>
        <p:nvSpPr>
          <p:cNvPr id="9" name="Text 7"/>
          <p:cNvSpPr/>
          <p:nvPr/>
        </p:nvSpPr>
        <p:spPr>
          <a:xfrm>
            <a:off x="11285488" y="4547741"/>
            <a:ext cx="1525116" cy="442913"/>
          </a:xfrm>
          <a:prstGeom prst="rect">
            <a:avLst/>
          </a:prstGeom>
          <a:noFill/>
          <a:ln/>
        </p:spPr>
        <p:txBody>
          <a:bodyPr wrap="square" lIns="25400" tIns="25400" rIns="25400" bIns="25400" rtlCol="0" anchor="t">
            <a:normAutofit/>
          </a:bodyPr>
          <a:lstStyle/>
          <a:p>
            <a:pPr algn="l" indent="0" marL="0">
              <a:lnSpc>
                <a:spcPct val="142000"/>
              </a:lnSpc>
              <a:buNone/>
            </a:pPr>
            <a:r>
              <a:rPr lang="en-US" sz="2850" b="1" dirty="0">
                <a:solidFill>
                  <a:srgbClr val="C41230"/>
                </a:solidFill>
                <a:latin typeface="-apple-system" pitchFamily="34" charset="0"/>
                <a:ea typeface="-apple-system" pitchFamily="34" charset="-122"/>
                <a:cs typeface="-apple-system" pitchFamily="34" charset="-120"/>
              </a:rPr>
              <a:t>systems</a:t>
            </a:r>
            <a:endParaRPr lang="en-US" sz="2850" dirty="0"/>
          </a:p>
        </p:txBody>
      </p:sp>
      <p:sp>
        <p:nvSpPr>
          <p:cNvPr id="10" name="Text 8"/>
          <p:cNvSpPr/>
          <p:nvPr/>
        </p:nvSpPr>
        <p:spPr>
          <a:xfrm>
            <a:off x="9896921" y="5142607"/>
            <a:ext cx="7661736" cy="335607"/>
          </a:xfrm>
          <a:prstGeom prst="rect">
            <a:avLst/>
          </a:prstGeom>
          <a:noFill/>
          <a:ln/>
        </p:spPr>
        <p:txBody>
          <a:bodyPr wrap="square" lIns="25400" tIns="25400" rIns="25400" bIns="25400" rtlCol="0" anchor="t">
            <a:normAutofit/>
          </a:bodyPr>
          <a:lstStyle/>
          <a:p>
            <a:pPr algn="l" indent="0" marL="0">
              <a:lnSpc>
                <a:spcPct val="142000"/>
              </a:lnSpc>
              <a:buNone/>
            </a:pPr>
            <a:r>
              <a:rPr lang="en-US" sz="1650" spc="165" kern="0" dirty="0">
                <a:solidFill>
                  <a:srgbClr val="6B6F77"/>
                </a:solidFill>
                <a:latin typeface="-apple-system" pitchFamily="34" charset="0"/>
                <a:ea typeface="-apple-system" pitchFamily="34" charset="-122"/>
                <a:cs typeface="-apple-system" pitchFamily="34" charset="-120"/>
              </a:rPr>
              <a:t>TO COORDINATE PER TASK</a:t>
            </a:r>
            <a:endParaRPr lang="en-US" sz="1650" dirty="0"/>
          </a:p>
        </p:txBody>
      </p:sp>
      <p:sp>
        <p:nvSpPr>
          <p:cNvPr id="11" name="Shape 9"/>
          <p:cNvSpPr/>
          <p:nvPr/>
        </p:nvSpPr>
        <p:spPr>
          <a:xfrm>
            <a:off x="9896921" y="5706814"/>
            <a:ext cx="7438579" cy="38100"/>
          </a:xfrm>
          <a:prstGeom prst="rect">
            <a:avLst/>
          </a:prstGeom>
          <a:solidFill>
            <a:srgbClr val="C41230"/>
          </a:solidFill>
          <a:ln/>
        </p:spPr>
      </p:sp>
      <p:sp>
        <p:nvSpPr>
          <p:cNvPr id="12" name="Text 10"/>
          <p:cNvSpPr/>
          <p:nvPr/>
        </p:nvSpPr>
        <p:spPr>
          <a:xfrm>
            <a:off x="9896921" y="5663952"/>
            <a:ext cx="3253720" cy="1709738"/>
          </a:xfrm>
          <a:prstGeom prst="rect">
            <a:avLst/>
          </a:prstGeom>
          <a:noFill/>
          <a:ln/>
        </p:spPr>
        <p:txBody>
          <a:bodyPr wrap="square" lIns="25400" tIns="25400" rIns="25400" bIns="25400" rtlCol="0" anchor="t">
            <a:normAutofit/>
          </a:bodyPr>
          <a:lstStyle/>
          <a:p>
            <a:pPr algn="l" indent="0" marL="0">
              <a:lnSpc>
                <a:spcPct val="90000"/>
              </a:lnSpc>
              <a:buNone/>
            </a:pPr>
            <a:r>
              <a:rPr lang="en-US" sz="9600" b="1" spc="-192" kern="0" dirty="0">
                <a:solidFill>
                  <a:srgbClr val="15171A"/>
                </a:solidFill>
                <a:latin typeface="Source Serif 4" pitchFamily="34" charset="0"/>
                <a:ea typeface="Source Serif 4" pitchFamily="34" charset="-122"/>
                <a:cs typeface="Source Serif 4" pitchFamily="34" charset="-120"/>
              </a:rPr>
              <a:t>10m+</a:t>
            </a:r>
            <a:endParaRPr lang="en-US" sz="9600" dirty="0"/>
          </a:p>
        </p:txBody>
      </p:sp>
      <p:sp>
        <p:nvSpPr>
          <p:cNvPr id="13" name="Text 11"/>
          <p:cNvSpPr/>
          <p:nvPr/>
        </p:nvSpPr>
        <p:spPr>
          <a:xfrm>
            <a:off x="9896921" y="7185050"/>
            <a:ext cx="7661736" cy="335607"/>
          </a:xfrm>
          <a:prstGeom prst="rect">
            <a:avLst/>
          </a:prstGeom>
          <a:noFill/>
          <a:ln/>
        </p:spPr>
        <p:txBody>
          <a:bodyPr wrap="square" lIns="25400" tIns="25400" rIns="25400" bIns="25400" rtlCol="0" anchor="t">
            <a:normAutofit/>
          </a:bodyPr>
          <a:lstStyle/>
          <a:p>
            <a:pPr algn="l" indent="0" marL="0">
              <a:lnSpc>
                <a:spcPct val="142000"/>
              </a:lnSpc>
              <a:buNone/>
            </a:pPr>
            <a:r>
              <a:rPr lang="en-US" sz="1650" spc="165" kern="0" dirty="0">
                <a:solidFill>
                  <a:srgbClr val="6B6F77"/>
                </a:solidFill>
                <a:latin typeface="-apple-system" pitchFamily="34" charset="0"/>
                <a:ea typeface="-apple-system" pitchFamily="34" charset="-122"/>
                <a:cs typeface="-apple-system" pitchFamily="34" charset="-120"/>
              </a:rPr>
              <a:t>TYPICAL BASE TRAVEL PER INSTRUCTION</a:t>
            </a:r>
            <a:endParaRPr lang="en-US" sz="1650" dirty="0"/>
          </a:p>
        </p:txBody>
      </p:sp>
      <p:sp>
        <p:nvSpPr>
          <p:cNvPr id="14" name="Shape 12"/>
          <p:cNvSpPr/>
          <p:nvPr/>
        </p:nvSpPr>
        <p:spPr>
          <a:xfrm>
            <a:off x="9896921" y="7749257"/>
            <a:ext cx="7438579" cy="38100"/>
          </a:xfrm>
          <a:prstGeom prst="rect">
            <a:avLst/>
          </a:prstGeom>
          <a:solidFill>
            <a:srgbClr val="C41230"/>
          </a:solidFill>
          <a:ln/>
        </p:spPr>
      </p:sp>
      <p:sp>
        <p:nvSpPr>
          <p:cNvPr id="15" name="Text 13"/>
          <p:cNvSpPr/>
          <p:nvPr/>
        </p:nvSpPr>
        <p:spPr>
          <a:xfrm>
            <a:off x="9896921" y="7706395"/>
            <a:ext cx="2525613" cy="1709738"/>
          </a:xfrm>
          <a:prstGeom prst="rect">
            <a:avLst/>
          </a:prstGeom>
          <a:noFill/>
          <a:ln/>
        </p:spPr>
        <p:txBody>
          <a:bodyPr wrap="square" lIns="25400" tIns="25400" rIns="25400" bIns="25400" rtlCol="0" anchor="t">
            <a:normAutofit/>
          </a:bodyPr>
          <a:lstStyle/>
          <a:p>
            <a:pPr algn="l" indent="0" marL="0">
              <a:lnSpc>
                <a:spcPct val="90000"/>
              </a:lnSpc>
              <a:buNone/>
            </a:pPr>
            <a:r>
              <a:rPr lang="en-US" sz="9600" b="1" spc="-192" kern="0" dirty="0">
                <a:solidFill>
                  <a:srgbClr val="15171A"/>
                </a:solidFill>
                <a:latin typeface="Source Serif 4" pitchFamily="34" charset="0"/>
                <a:ea typeface="Source Serif 4" pitchFamily="34" charset="-122"/>
                <a:cs typeface="Source Serif 4" pitchFamily="34" charset="-120"/>
              </a:rPr>
              <a:t>~cm</a:t>
            </a:r>
            <a:endParaRPr lang="en-US" sz="9600" dirty="0"/>
          </a:p>
        </p:txBody>
      </p:sp>
      <p:sp>
        <p:nvSpPr>
          <p:cNvPr id="16" name="Text 14"/>
          <p:cNvSpPr/>
          <p:nvPr/>
        </p:nvSpPr>
        <p:spPr>
          <a:xfrm>
            <a:off x="9896921" y="9227493"/>
            <a:ext cx="7661736" cy="335607"/>
          </a:xfrm>
          <a:prstGeom prst="rect">
            <a:avLst/>
          </a:prstGeom>
          <a:noFill/>
          <a:ln/>
        </p:spPr>
        <p:txBody>
          <a:bodyPr wrap="square" lIns="25400" tIns="25400" rIns="25400" bIns="25400" rtlCol="0" anchor="t">
            <a:normAutofit/>
          </a:bodyPr>
          <a:lstStyle/>
          <a:p>
            <a:pPr algn="l" indent="0" marL="0">
              <a:lnSpc>
                <a:spcPct val="142000"/>
              </a:lnSpc>
              <a:buNone/>
            </a:pPr>
            <a:r>
              <a:rPr lang="en-US" sz="1650" spc="165" kern="0" dirty="0">
                <a:solidFill>
                  <a:srgbClr val="6B6F77"/>
                </a:solidFill>
                <a:latin typeface="-apple-system" pitchFamily="34" charset="0"/>
                <a:ea typeface="-apple-system" pitchFamily="34" charset="-122"/>
                <a:cs typeface="-apple-system" pitchFamily="34" charset="-120"/>
              </a:rPr>
              <a:t>GRASP TOLERANCE, AFTER DRIVING</a:t>
            </a:r>
            <a:endParaRPr lang="en-US" sz="1650" dirty="0"/>
          </a:p>
        </p:txBody>
      </p:sp>
      <p:sp>
        <p:nvSpPr>
          <p:cNvPr id="17" name="Text 15"/>
          <p:cNvSpPr/>
          <p:nvPr/>
        </p:nvSpPr>
        <p:spPr>
          <a:xfrm>
            <a:off x="952500" y="9624492"/>
            <a:ext cx="363258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16-762 · STRETCH REARRANGEMENT</a:t>
            </a:r>
            <a:endParaRPr lang="en-US" sz="1350" dirty="0"/>
          </a:p>
        </p:txBody>
      </p:sp>
      <p:sp>
        <p:nvSpPr>
          <p:cNvPr id="18" name="Text 16"/>
          <p:cNvSpPr/>
          <p:nvPr/>
        </p:nvSpPr>
        <p:spPr>
          <a:xfrm>
            <a:off x="14282068" y="9624492"/>
            <a:ext cx="3145035"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HAOKUN · JINYAO · WEERACHAI</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8DA"/>
        </a:solidFill>
      </p:bgPr>
    </p:bg>
    <p:spTree>
      <p:nvGrpSpPr>
        <p:cNvPr id="1" name=""/>
        <p:cNvGrpSpPr/>
        <p:nvPr/>
      </p:nvGrpSpPr>
      <p:grpSpPr>
        <a:xfrm>
          <a:off x="0" y="0"/>
          <a:ext cx="0" cy="0"/>
          <a:chOff x="0" y="0"/>
          <a:chExt cx="0" cy="0"/>
        </a:xfrm>
      </p:grpSpPr>
      <p:sp>
        <p:nvSpPr>
          <p:cNvPr id="2" name="Text 0"/>
          <p:cNvSpPr/>
          <p:nvPr/>
        </p:nvSpPr>
        <p:spPr>
          <a:xfrm>
            <a:off x="952500" y="419100"/>
            <a:ext cx="2390254"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PROBLEM DEFINITION</a:t>
            </a:r>
            <a:endParaRPr lang="en-US" sz="1350" dirty="0"/>
          </a:p>
        </p:txBody>
      </p:sp>
      <p:sp>
        <p:nvSpPr>
          <p:cNvPr id="3" name="Text 1"/>
          <p:cNvSpPr/>
          <p:nvPr/>
        </p:nvSpPr>
        <p:spPr>
          <a:xfrm>
            <a:off x="16715110" y="419100"/>
            <a:ext cx="69659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02 / 12</a:t>
            </a:r>
            <a:endParaRPr lang="en-US" sz="1350" dirty="0"/>
          </a:p>
        </p:txBody>
      </p:sp>
      <p:sp>
        <p:nvSpPr>
          <p:cNvPr id="4" name="Text 2"/>
          <p:cNvSpPr/>
          <p:nvPr/>
        </p:nvSpPr>
        <p:spPr>
          <a:xfrm>
            <a:off x="952500" y="1905000"/>
            <a:ext cx="16874490" cy="1318171"/>
          </a:xfrm>
          <a:prstGeom prst="rect">
            <a:avLst/>
          </a:prstGeom>
          <a:noFill/>
          <a:ln/>
        </p:spPr>
        <p:txBody>
          <a:bodyPr wrap="square" lIns="25400" tIns="25400" rIns="25400" bIns="25400" rtlCol="0" anchor="t">
            <a:normAutofit/>
          </a:bodyPr>
          <a:lstStyle/>
          <a:p>
            <a:pPr algn="l" indent="0" marL="0">
              <a:lnSpc>
                <a:spcPct val="105000"/>
              </a:lnSpc>
              <a:buNone/>
            </a:pPr>
            <a:r>
              <a:rPr lang="en-US" sz="4800" b="1" spc="-72" kern="0" dirty="0">
                <a:solidFill>
                  <a:srgbClr val="15171A"/>
                </a:solidFill>
                <a:latin typeface="Source Serif 4" pitchFamily="34" charset="0"/>
                <a:ea typeface="Source Serif 4" pitchFamily="34" charset="-122"/>
                <a:cs typeface="Source Serif 4" pitchFamily="34" charset="-120"/>
              </a:rPr>
              <a:t>Natural-language rearrangement in a pre-mapped room.</a:t>
            </a:r>
            <a:endParaRPr lang="en-US" sz="4800" dirty="0"/>
          </a:p>
        </p:txBody>
      </p:sp>
      <p:sp>
        <p:nvSpPr>
          <p:cNvPr id="5" name="Text 3"/>
          <p:cNvSpPr/>
          <p:nvPr/>
        </p:nvSpPr>
        <p:spPr>
          <a:xfrm>
            <a:off x="952500" y="3680371"/>
            <a:ext cx="8044815" cy="308595"/>
          </a:xfrm>
          <a:prstGeom prst="rect">
            <a:avLst/>
          </a:prstGeom>
          <a:noFill/>
          <a:ln/>
        </p:spPr>
        <p:txBody>
          <a:bodyPr wrap="square" lIns="25400" tIns="25400" rIns="25400" bIns="25400" rtlCol="0" anchor="t">
            <a:normAutofit/>
          </a:bodyPr>
          <a:lstStyle/>
          <a:p>
            <a:pPr algn="l" indent="0" marL="0">
              <a:lnSpc>
                <a:spcPct val="142000"/>
              </a:lnSpc>
              <a:buNone/>
            </a:pPr>
            <a:r>
              <a:rPr lang="en-US" sz="1500" spc="60" kern="0" dirty="0">
                <a:solidFill>
                  <a:srgbClr val="6B6F77"/>
                </a:solidFill>
                <a:latin typeface="JetBrains Mono" pitchFamily="34" charset="0"/>
                <a:ea typeface="JetBrains Mono" pitchFamily="34" charset="-122"/>
                <a:cs typeface="JetBrains Mono" pitchFamily="34" charset="-120"/>
              </a:rPr>
              <a:t>GIVEN</a:t>
            </a:r>
            <a:endParaRPr lang="en-US" sz="1500" dirty="0"/>
          </a:p>
        </p:txBody>
      </p:sp>
      <p:sp>
        <p:nvSpPr>
          <p:cNvPr id="6" name="Shape 4"/>
          <p:cNvSpPr/>
          <p:nvPr/>
        </p:nvSpPr>
        <p:spPr>
          <a:xfrm>
            <a:off x="952500" y="4122316"/>
            <a:ext cx="7810500" cy="9525"/>
          </a:xfrm>
          <a:prstGeom prst="rect">
            <a:avLst/>
          </a:prstGeom>
          <a:solidFill>
            <a:srgbClr val="D8D4CB"/>
          </a:solidFill>
          <a:ln/>
        </p:spPr>
      </p:sp>
      <p:sp>
        <p:nvSpPr>
          <p:cNvPr id="7" name="Text 5"/>
          <p:cNvSpPr/>
          <p:nvPr/>
        </p:nvSpPr>
        <p:spPr>
          <a:xfrm>
            <a:off x="952500" y="4322341"/>
            <a:ext cx="457200" cy="73833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G1</a:t>
            </a:r>
            <a:endParaRPr lang="en-US" sz="1500" dirty="0"/>
          </a:p>
        </p:txBody>
      </p:sp>
      <p:sp>
        <p:nvSpPr>
          <p:cNvPr id="8" name="Text 6"/>
          <p:cNvSpPr/>
          <p:nvPr/>
        </p:nvSpPr>
        <p:spPr>
          <a:xfrm>
            <a:off x="1543050" y="4265191"/>
            <a:ext cx="7436549" cy="795486"/>
          </a:xfrm>
          <a:prstGeom prst="rect">
            <a:avLst/>
          </a:prstGeom>
          <a:noFill/>
          <a:ln/>
        </p:spPr>
        <p:txBody>
          <a:bodyPr wrap="square" lIns="25400" tIns="25400" rIns="25400" bIns="25400" rtlCol="0" anchor="t">
            <a:normAutofit/>
          </a:bodyPr>
          <a:lstStyle/>
          <a:p>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A saved occupancy map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of the environment (stretch_nav2, offline).</a:t>
            </a:r>
            <a:endParaRPr lang="en-US" sz="2100" dirty="0"/>
          </a:p>
        </p:txBody>
      </p:sp>
      <p:sp>
        <p:nvSpPr>
          <p:cNvPr id="9" name="Shape 7"/>
          <p:cNvSpPr/>
          <p:nvPr/>
        </p:nvSpPr>
        <p:spPr>
          <a:xfrm>
            <a:off x="952500" y="5155927"/>
            <a:ext cx="7810500" cy="9525"/>
          </a:xfrm>
          <a:prstGeom prst="rect">
            <a:avLst/>
          </a:prstGeom>
          <a:solidFill>
            <a:srgbClr val="D8D4CB"/>
          </a:solidFill>
          <a:ln/>
        </p:spPr>
      </p:sp>
      <p:sp>
        <p:nvSpPr>
          <p:cNvPr id="10" name="Text 8"/>
          <p:cNvSpPr/>
          <p:nvPr/>
        </p:nvSpPr>
        <p:spPr>
          <a:xfrm>
            <a:off x="952500" y="5355952"/>
            <a:ext cx="457200" cy="73833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G2</a:t>
            </a:r>
            <a:endParaRPr lang="en-US" sz="1500" dirty="0"/>
          </a:p>
        </p:txBody>
      </p:sp>
      <p:sp>
        <p:nvSpPr>
          <p:cNvPr id="11" name="Text 9"/>
          <p:cNvSpPr/>
          <p:nvPr/>
        </p:nvSpPr>
        <p:spPr>
          <a:xfrm>
            <a:off x="1543050" y="5298802"/>
            <a:ext cx="7436549" cy="795486"/>
          </a:xfrm>
          <a:prstGeom prst="rect">
            <a:avLst/>
          </a:prstGeom>
          <a:noFill/>
          <a:ln/>
        </p:spPr>
        <p:txBody>
          <a:bodyPr wrap="square" lIns="25400" tIns="25400" rIns="25400" bIns="25400" rtlCol="0" anchor="t">
            <a:normAutofit/>
          </a:bodyPr>
          <a:lstStyle/>
          <a:p>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A snapshot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of every target object's position in the </a:t>
            </a:r>
            <a:pPr algn="l" indent="0" marL="0">
              <a:lnSpc>
                <a:spcPct val="142000"/>
              </a:lnSpc>
              <a:buNone/>
            </a:pPr>
            <a:r>
              <a:rPr lang="en-US" sz="2100" dirty="0">
                <a:solidFill>
                  <a:srgbClr val="3A3E45"/>
                </a:solidFill>
                <a:latin typeface="JetBrains Mono" pitchFamily="34" charset="0"/>
                <a:ea typeface="JetBrains Mono" pitchFamily="34" charset="-122"/>
                <a:cs typeface="JetBrains Mono" pitchFamily="34" charset="-120"/>
              </a:rPr>
              <a:t>map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frame.</a:t>
            </a:r>
            <a:endParaRPr lang="en-US" sz="2100" dirty="0"/>
          </a:p>
        </p:txBody>
      </p:sp>
      <p:sp>
        <p:nvSpPr>
          <p:cNvPr id="12" name="Shape 10"/>
          <p:cNvSpPr/>
          <p:nvPr/>
        </p:nvSpPr>
        <p:spPr>
          <a:xfrm>
            <a:off x="952500" y="6189538"/>
            <a:ext cx="7810500" cy="9525"/>
          </a:xfrm>
          <a:prstGeom prst="rect">
            <a:avLst/>
          </a:prstGeom>
          <a:solidFill>
            <a:srgbClr val="D8D4CB"/>
          </a:solidFill>
          <a:ln/>
        </p:spPr>
      </p:sp>
      <p:sp>
        <p:nvSpPr>
          <p:cNvPr id="13" name="Text 11"/>
          <p:cNvSpPr/>
          <p:nvPr/>
        </p:nvSpPr>
        <p:spPr>
          <a:xfrm>
            <a:off x="952500" y="6389563"/>
            <a:ext cx="457200" cy="359643"/>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G3</a:t>
            </a:r>
            <a:endParaRPr lang="en-US" sz="1500" dirty="0"/>
          </a:p>
        </p:txBody>
      </p:sp>
      <p:sp>
        <p:nvSpPr>
          <p:cNvPr id="14" name="Text 12"/>
          <p:cNvSpPr/>
          <p:nvPr/>
        </p:nvSpPr>
        <p:spPr>
          <a:xfrm>
            <a:off x="1543050" y="6332413"/>
            <a:ext cx="7436549" cy="416793"/>
          </a:xfrm>
          <a:prstGeom prst="rect">
            <a:avLst/>
          </a:prstGeom>
          <a:noFill/>
          <a:ln/>
        </p:spPr>
        <p:txBody>
          <a:bodyPr wrap="square" lIns="25400" tIns="25400" rIns="25400" bIns="25400" rtlCol="0" anchor="t">
            <a:normAutofit/>
          </a:bodyPr>
          <a:lstStyle/>
          <a:p>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Annotated regions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 polygons + a place anchor, in YAML.</a:t>
            </a:r>
            <a:endParaRPr lang="en-US" sz="2100" dirty="0"/>
          </a:p>
        </p:txBody>
      </p:sp>
      <p:sp>
        <p:nvSpPr>
          <p:cNvPr id="15" name="Shape 13"/>
          <p:cNvSpPr/>
          <p:nvPr/>
        </p:nvSpPr>
        <p:spPr>
          <a:xfrm>
            <a:off x="952500" y="7878068"/>
            <a:ext cx="7810500" cy="9525"/>
          </a:xfrm>
          <a:prstGeom prst="rect">
            <a:avLst/>
          </a:prstGeom>
          <a:solidFill>
            <a:srgbClr val="D8D4CB"/>
          </a:solidFill>
          <a:ln/>
        </p:spPr>
      </p:sp>
      <p:sp>
        <p:nvSpPr>
          <p:cNvPr id="16" name="Shape 14"/>
          <p:cNvSpPr/>
          <p:nvPr/>
        </p:nvSpPr>
        <p:spPr>
          <a:xfrm>
            <a:off x="952500" y="6844457"/>
            <a:ext cx="7810500" cy="9525"/>
          </a:xfrm>
          <a:prstGeom prst="rect">
            <a:avLst/>
          </a:prstGeom>
          <a:solidFill>
            <a:srgbClr val="D8D4CB"/>
          </a:solidFill>
          <a:ln/>
        </p:spPr>
      </p:sp>
      <p:sp>
        <p:nvSpPr>
          <p:cNvPr id="17" name="Text 15"/>
          <p:cNvSpPr/>
          <p:nvPr/>
        </p:nvSpPr>
        <p:spPr>
          <a:xfrm>
            <a:off x="952500" y="7044482"/>
            <a:ext cx="457200" cy="73833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G4</a:t>
            </a:r>
            <a:endParaRPr lang="en-US" sz="1500" dirty="0"/>
          </a:p>
        </p:txBody>
      </p:sp>
      <p:sp>
        <p:nvSpPr>
          <p:cNvPr id="18" name="Text 16"/>
          <p:cNvSpPr/>
          <p:nvPr/>
        </p:nvSpPr>
        <p:spPr>
          <a:xfrm>
            <a:off x="1543050" y="6987332"/>
            <a:ext cx="7436549" cy="795486"/>
          </a:xfrm>
          <a:prstGeom prst="rect">
            <a:avLst/>
          </a:prstGeom>
          <a:noFill/>
          <a:ln/>
        </p:spPr>
        <p:txBody>
          <a:bodyPr wrap="square" lIns="25400" tIns="25400" rIns="25400" bIns="25400" rtlCol="0" anchor="t">
            <a:normAutofit/>
          </a:bodyPr>
          <a:lstStyle/>
          <a:p>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A free-form instruction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such as </a:t>
            </a:r>
            <a:pPr algn="l" indent="0" marL="0">
              <a:lnSpc>
                <a:spcPct val="142000"/>
              </a:lnSpc>
              <a:buNone/>
            </a:pPr>
            <a:r>
              <a:rPr lang="en-US" sz="2100" i="1" dirty="0">
                <a:solidFill>
                  <a:srgbClr val="3A3E45"/>
                </a:solidFill>
                <a:latin typeface="-apple-system" pitchFamily="34" charset="0"/>
                <a:ea typeface="-apple-system" pitchFamily="34" charset="-122"/>
                <a:cs typeface="-apple-system" pitchFamily="34" charset="-120"/>
              </a:rPr>
              <a:t>"put the orange cup to region B."</a:t>
            </a:r>
            <a:endParaRPr lang="en-US" sz="2100" dirty="0"/>
          </a:p>
        </p:txBody>
      </p:sp>
      <p:sp>
        <p:nvSpPr>
          <p:cNvPr id="19" name="Text 17"/>
          <p:cNvSpPr/>
          <p:nvPr/>
        </p:nvSpPr>
        <p:spPr>
          <a:xfrm>
            <a:off x="9525000" y="3680371"/>
            <a:ext cx="8044815" cy="308595"/>
          </a:xfrm>
          <a:prstGeom prst="rect">
            <a:avLst/>
          </a:prstGeom>
          <a:noFill/>
          <a:ln/>
        </p:spPr>
        <p:txBody>
          <a:bodyPr wrap="square" lIns="25400" tIns="25400" rIns="25400" bIns="25400" rtlCol="0" anchor="t">
            <a:normAutofit/>
          </a:bodyPr>
          <a:lstStyle/>
          <a:p>
            <a:pPr algn="l" indent="0" marL="0">
              <a:lnSpc>
                <a:spcPct val="142000"/>
              </a:lnSpc>
              <a:buNone/>
            </a:pPr>
            <a:r>
              <a:rPr lang="en-US" sz="1500" spc="60" kern="0" dirty="0">
                <a:solidFill>
                  <a:srgbClr val="6B6F77"/>
                </a:solidFill>
                <a:latin typeface="JetBrains Mono" pitchFamily="34" charset="0"/>
                <a:ea typeface="JetBrains Mono" pitchFamily="34" charset="-122"/>
                <a:cs typeface="JetBrains Mono" pitchFamily="34" charset="-120"/>
              </a:rPr>
              <a:t>FIND</a:t>
            </a:r>
            <a:endParaRPr lang="en-US" sz="1500" dirty="0"/>
          </a:p>
        </p:txBody>
      </p:sp>
      <p:sp>
        <p:nvSpPr>
          <p:cNvPr id="20" name="Shape 18"/>
          <p:cNvSpPr/>
          <p:nvPr/>
        </p:nvSpPr>
        <p:spPr>
          <a:xfrm>
            <a:off x="9525000" y="4122316"/>
            <a:ext cx="7810500" cy="9525"/>
          </a:xfrm>
          <a:prstGeom prst="rect">
            <a:avLst/>
          </a:prstGeom>
          <a:solidFill>
            <a:srgbClr val="D8D4CB"/>
          </a:solidFill>
          <a:ln/>
        </p:spPr>
      </p:sp>
      <p:sp>
        <p:nvSpPr>
          <p:cNvPr id="21" name="Text 19"/>
          <p:cNvSpPr/>
          <p:nvPr/>
        </p:nvSpPr>
        <p:spPr>
          <a:xfrm>
            <a:off x="9525000" y="4322341"/>
            <a:ext cx="457200" cy="359643"/>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F1</a:t>
            </a:r>
            <a:endParaRPr lang="en-US" sz="1500" dirty="0"/>
          </a:p>
        </p:txBody>
      </p:sp>
      <p:sp>
        <p:nvSpPr>
          <p:cNvPr id="22" name="Text 20"/>
          <p:cNvSpPr/>
          <p:nvPr/>
        </p:nvSpPr>
        <p:spPr>
          <a:xfrm>
            <a:off x="10115550" y="4265191"/>
            <a:ext cx="7436549" cy="416793"/>
          </a:xfrm>
          <a:prstGeom prst="rect">
            <a:avLst/>
          </a:prstGeom>
          <a:noFill/>
          <a:ln/>
        </p:spPr>
        <p:txBody>
          <a:bodyPr wrap="square" lIns="25400" tIns="25400" rIns="25400" bIns="25400" rtlCol="0" anchor="t">
            <a:normAutofit/>
          </a:bodyPr>
          <a:lstStyle/>
          <a:p>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An </a:t>
            </a:r>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ordered pick-place plan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satisfying the instruction.</a:t>
            </a:r>
            <a:endParaRPr lang="en-US" sz="2100" dirty="0"/>
          </a:p>
        </p:txBody>
      </p:sp>
      <p:sp>
        <p:nvSpPr>
          <p:cNvPr id="23" name="Shape 21"/>
          <p:cNvSpPr/>
          <p:nvPr/>
        </p:nvSpPr>
        <p:spPr>
          <a:xfrm>
            <a:off x="9525000" y="4777234"/>
            <a:ext cx="7810500" cy="9525"/>
          </a:xfrm>
          <a:prstGeom prst="rect">
            <a:avLst/>
          </a:prstGeom>
          <a:solidFill>
            <a:srgbClr val="D8D4CB"/>
          </a:solidFill>
          <a:ln/>
        </p:spPr>
      </p:sp>
      <p:sp>
        <p:nvSpPr>
          <p:cNvPr id="24" name="Text 22"/>
          <p:cNvSpPr/>
          <p:nvPr/>
        </p:nvSpPr>
        <p:spPr>
          <a:xfrm>
            <a:off x="9525000" y="4977259"/>
            <a:ext cx="457200" cy="359643"/>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F2</a:t>
            </a:r>
            <a:endParaRPr lang="en-US" sz="1500" dirty="0"/>
          </a:p>
        </p:txBody>
      </p:sp>
      <p:sp>
        <p:nvSpPr>
          <p:cNvPr id="25" name="Text 23"/>
          <p:cNvSpPr/>
          <p:nvPr/>
        </p:nvSpPr>
        <p:spPr>
          <a:xfrm>
            <a:off x="10115550" y="4920109"/>
            <a:ext cx="7436549" cy="416793"/>
          </a:xfrm>
          <a:prstGeom prst="rect">
            <a:avLst/>
          </a:prstGeom>
          <a:noFill/>
          <a:ln/>
        </p:spPr>
        <p:txBody>
          <a:bodyPr wrap="square" lIns="25400" tIns="25400" rIns="25400" bIns="25400" rtlCol="0" anchor="t">
            <a:normAutofit/>
          </a:bodyPr>
          <a:lstStyle/>
          <a:p>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Navigation goals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the Stretch can actually reach.</a:t>
            </a:r>
            <a:endParaRPr lang="en-US" sz="2100" dirty="0"/>
          </a:p>
        </p:txBody>
      </p:sp>
      <p:sp>
        <p:nvSpPr>
          <p:cNvPr id="26" name="Shape 24"/>
          <p:cNvSpPr/>
          <p:nvPr/>
        </p:nvSpPr>
        <p:spPr>
          <a:xfrm>
            <a:off x="9525000" y="6087070"/>
            <a:ext cx="7810500" cy="9525"/>
          </a:xfrm>
          <a:prstGeom prst="rect">
            <a:avLst/>
          </a:prstGeom>
          <a:solidFill>
            <a:srgbClr val="D8D4CB"/>
          </a:solidFill>
          <a:ln/>
        </p:spPr>
      </p:sp>
      <p:sp>
        <p:nvSpPr>
          <p:cNvPr id="27" name="Shape 25"/>
          <p:cNvSpPr/>
          <p:nvPr/>
        </p:nvSpPr>
        <p:spPr>
          <a:xfrm>
            <a:off x="9525000" y="5432152"/>
            <a:ext cx="7810500" cy="9525"/>
          </a:xfrm>
          <a:prstGeom prst="rect">
            <a:avLst/>
          </a:prstGeom>
          <a:solidFill>
            <a:srgbClr val="D8D4CB"/>
          </a:solidFill>
          <a:ln/>
        </p:spPr>
      </p:sp>
      <p:sp>
        <p:nvSpPr>
          <p:cNvPr id="28" name="Text 26"/>
          <p:cNvSpPr/>
          <p:nvPr/>
        </p:nvSpPr>
        <p:spPr>
          <a:xfrm>
            <a:off x="9525000" y="5632177"/>
            <a:ext cx="457200" cy="359643"/>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F3</a:t>
            </a:r>
            <a:endParaRPr lang="en-US" sz="1500" dirty="0"/>
          </a:p>
        </p:txBody>
      </p:sp>
      <p:sp>
        <p:nvSpPr>
          <p:cNvPr id="29" name="Text 27"/>
          <p:cNvSpPr/>
          <p:nvPr/>
        </p:nvSpPr>
        <p:spPr>
          <a:xfrm>
            <a:off x="10115550" y="5575027"/>
            <a:ext cx="7436549" cy="416793"/>
          </a:xfrm>
          <a:prstGeom prst="rect">
            <a:avLst/>
          </a:prstGeom>
          <a:noFill/>
          <a:ln/>
        </p:spPr>
        <p:txBody>
          <a:bodyPr wrap="square" lIns="25400" tIns="25400" rIns="25400" bIns="25400" rtlCol="0" anchor="t">
            <a:normAutofit/>
          </a:bodyPr>
          <a:lstStyle/>
          <a:p>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Grasp poses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that succeed on real cups and bottles.</a:t>
            </a:r>
            <a:endParaRPr lang="en-US" sz="2100" dirty="0"/>
          </a:p>
        </p:txBody>
      </p:sp>
      <p:sp>
        <p:nvSpPr>
          <p:cNvPr id="30" name="Text 28"/>
          <p:cNvSpPr/>
          <p:nvPr/>
        </p:nvSpPr>
        <p:spPr>
          <a:xfrm>
            <a:off x="9525000" y="6458545"/>
            <a:ext cx="8044815" cy="308595"/>
          </a:xfrm>
          <a:prstGeom prst="rect">
            <a:avLst/>
          </a:prstGeom>
          <a:noFill/>
          <a:ln/>
        </p:spPr>
        <p:txBody>
          <a:bodyPr wrap="square" lIns="25400" tIns="25400" rIns="25400" bIns="25400" rtlCol="0" anchor="t">
            <a:normAutofit/>
          </a:bodyPr>
          <a:lstStyle/>
          <a:p>
            <a:pPr algn="l" indent="0" marL="0">
              <a:lnSpc>
                <a:spcPct val="142000"/>
              </a:lnSpc>
              <a:buNone/>
            </a:pPr>
            <a:r>
              <a:rPr lang="en-US" sz="1500" spc="60" kern="0" dirty="0">
                <a:solidFill>
                  <a:srgbClr val="6B6F77"/>
                </a:solidFill>
                <a:latin typeface="JetBrains Mono" pitchFamily="34" charset="0"/>
                <a:ea typeface="JetBrains Mono" pitchFamily="34" charset="-122"/>
                <a:cs typeface="JetBrains Mono" pitchFamily="34" charset="-120"/>
              </a:rPr>
              <a:t>ASSUMPTIONS</a:t>
            </a:r>
            <a:endParaRPr lang="en-US" sz="1500" dirty="0"/>
          </a:p>
        </p:txBody>
      </p:sp>
      <p:sp>
        <p:nvSpPr>
          <p:cNvPr id="31" name="Text 29"/>
          <p:cNvSpPr/>
          <p:nvPr/>
        </p:nvSpPr>
        <p:spPr>
          <a:xfrm>
            <a:off x="9525000" y="6843340"/>
            <a:ext cx="8044815"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A3E45"/>
                </a:solidFill>
                <a:latin typeface="-apple-system" pitchFamily="34" charset="0"/>
                <a:ea typeface="-apple-system" pitchFamily="34" charset="-122"/>
                <a:cs typeface="-apple-system" pitchFamily="34" charset="-120"/>
              </a:rPr>
              <a:t>Static map · small graspable objects (cups, bottles) · good lighting · operator-in-the-loop for region annotation (one-time).</a:t>
            </a:r>
            <a:endParaRPr lang="en-US" sz="1800" dirty="0"/>
          </a:p>
        </p:txBody>
      </p:sp>
      <p:sp>
        <p:nvSpPr>
          <p:cNvPr id="32" name="Text 30"/>
          <p:cNvSpPr/>
          <p:nvPr/>
        </p:nvSpPr>
        <p:spPr>
          <a:xfrm>
            <a:off x="952500" y="9624492"/>
            <a:ext cx="363258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16-762 · STRETCH REARRANGEMENT</a:t>
            </a:r>
            <a:endParaRPr lang="en-US" sz="1350" dirty="0"/>
          </a:p>
        </p:txBody>
      </p:sp>
      <p:sp>
        <p:nvSpPr>
          <p:cNvPr id="33" name="Text 31"/>
          <p:cNvSpPr/>
          <p:nvPr/>
        </p:nvSpPr>
        <p:spPr>
          <a:xfrm>
            <a:off x="17117318" y="9624492"/>
            <a:ext cx="294382"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02</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8"/>
        </a:solidFill>
      </p:bgPr>
    </p:bg>
    <p:spTree>
      <p:nvGrpSpPr>
        <p:cNvPr id="1" name=""/>
        <p:cNvGrpSpPr/>
        <p:nvPr/>
      </p:nvGrpSpPr>
      <p:grpSpPr>
        <a:xfrm>
          <a:off x="0" y="0"/>
          <a:ext cx="0" cy="0"/>
          <a:chOff x="0" y="0"/>
          <a:chExt cx="0" cy="0"/>
        </a:xfrm>
      </p:grpSpPr>
      <p:sp>
        <p:nvSpPr>
          <p:cNvPr id="2" name="Text 0"/>
          <p:cNvSpPr/>
          <p:nvPr/>
        </p:nvSpPr>
        <p:spPr>
          <a:xfrm>
            <a:off x="952500" y="419100"/>
            <a:ext cx="1809452"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RELATED WORK</a:t>
            </a:r>
            <a:endParaRPr lang="en-US" sz="1350" dirty="0"/>
          </a:p>
        </p:txBody>
      </p:sp>
      <p:sp>
        <p:nvSpPr>
          <p:cNvPr id="3" name="Text 1"/>
          <p:cNvSpPr/>
          <p:nvPr/>
        </p:nvSpPr>
        <p:spPr>
          <a:xfrm>
            <a:off x="16715110" y="419100"/>
            <a:ext cx="69659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03 / 12</a:t>
            </a:r>
            <a:endParaRPr lang="en-US" sz="1350" dirty="0"/>
          </a:p>
        </p:txBody>
      </p:sp>
      <p:sp>
        <p:nvSpPr>
          <p:cNvPr id="4" name="Text 2"/>
          <p:cNvSpPr/>
          <p:nvPr/>
        </p:nvSpPr>
        <p:spPr>
          <a:xfrm>
            <a:off x="952500" y="1905000"/>
            <a:ext cx="1687449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b="1" spc="-72" kern="0" dirty="0">
                <a:solidFill>
                  <a:srgbClr val="15171A"/>
                </a:solidFill>
                <a:latin typeface="Source Serif 4" pitchFamily="34" charset="0"/>
                <a:ea typeface="Source Serif 4" pitchFamily="34" charset="-122"/>
                <a:cs typeface="Source Serif 4" pitchFamily="34" charset="-120"/>
              </a:rPr>
              <a:t>Three threads we stand on.</a:t>
            </a:r>
            <a:endParaRPr lang="en-US" sz="4800" dirty="0"/>
          </a:p>
        </p:txBody>
      </p:sp>
      <p:sp>
        <p:nvSpPr>
          <p:cNvPr id="5" name="Text 3"/>
          <p:cNvSpPr/>
          <p:nvPr/>
        </p:nvSpPr>
        <p:spPr>
          <a:xfrm>
            <a:off x="952500" y="3040335"/>
            <a:ext cx="5258562" cy="308595"/>
          </a:xfrm>
          <a:prstGeom prst="rect">
            <a:avLst/>
          </a:prstGeom>
          <a:noFill/>
          <a:ln/>
        </p:spPr>
        <p:txBody>
          <a:bodyPr wrap="square" lIns="25400" tIns="25400" rIns="25400" bIns="25400" rtlCol="0" anchor="t">
            <a:normAutofit/>
          </a:bodyPr>
          <a:lstStyle/>
          <a:p>
            <a:pPr algn="l" indent="0" marL="0">
              <a:lnSpc>
                <a:spcPct val="142000"/>
              </a:lnSpc>
              <a:buNone/>
            </a:pPr>
            <a:r>
              <a:rPr lang="en-US" sz="1500" spc="60" kern="0" dirty="0">
                <a:solidFill>
                  <a:srgbClr val="C41230"/>
                </a:solidFill>
                <a:latin typeface="JetBrains Mono" pitchFamily="34" charset="0"/>
                <a:ea typeface="JetBrains Mono" pitchFamily="34" charset="-122"/>
                <a:cs typeface="JetBrains Mono" pitchFamily="34" charset="-120"/>
              </a:rPr>
              <a:t>01 · LLM PLANNERS</a:t>
            </a:r>
            <a:endParaRPr lang="en-US" sz="1500" dirty="0"/>
          </a:p>
        </p:txBody>
      </p:sp>
      <p:sp>
        <p:nvSpPr>
          <p:cNvPr id="6" name="Text 4"/>
          <p:cNvSpPr/>
          <p:nvPr/>
        </p:nvSpPr>
        <p:spPr>
          <a:xfrm>
            <a:off x="952500" y="3463230"/>
            <a:ext cx="5258562" cy="443805"/>
          </a:xfrm>
          <a:prstGeom prst="rect">
            <a:avLst/>
          </a:prstGeom>
          <a:noFill/>
          <a:ln/>
        </p:spPr>
        <p:txBody>
          <a:bodyPr wrap="square" lIns="25400" tIns="25400" rIns="25400" bIns="25400" rtlCol="0" anchor="t">
            <a:normAutofit/>
          </a:bodyPr>
          <a:lstStyle/>
          <a:p>
            <a:pPr algn="l" indent="0" marL="0">
              <a:lnSpc>
                <a:spcPct val="142000"/>
              </a:lnSpc>
              <a:buNone/>
            </a:pPr>
            <a:r>
              <a:rPr lang="en-US" sz="2250" b="1" spc="-11" kern="0" dirty="0">
                <a:solidFill>
                  <a:srgbClr val="15171A"/>
                </a:solidFill>
                <a:latin typeface="Inter" pitchFamily="34" charset="0"/>
                <a:ea typeface="Inter" pitchFamily="34" charset="-122"/>
                <a:cs typeface="Inter" pitchFamily="34" charset="-120"/>
              </a:rPr>
              <a:t>Open-vocabulary rearrangement</a:t>
            </a:r>
            <a:endParaRPr lang="en-US" sz="2250" dirty="0"/>
          </a:p>
        </p:txBody>
      </p:sp>
      <p:sp>
        <p:nvSpPr>
          <p:cNvPr id="7" name="Text 5"/>
          <p:cNvSpPr/>
          <p:nvPr/>
        </p:nvSpPr>
        <p:spPr>
          <a:xfrm>
            <a:off x="952500" y="4002286"/>
            <a:ext cx="5258562"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A3E45"/>
                </a:solidFill>
                <a:latin typeface="-apple-system" pitchFamily="34" charset="0"/>
                <a:ea typeface="-apple-system" pitchFamily="34" charset="-122"/>
                <a:cs typeface="-apple-system" pitchFamily="34" charset="-120"/>
              </a:rPr>
              <a:t>HomeRobot (Yenamandra et al.) and TidyBot (Wu et al.) show LLM-driven household cleanup is feasible end-to-end.</a:t>
            </a:r>
            <a:endParaRPr lang="en-US" sz="1800" dirty="0"/>
          </a:p>
        </p:txBody>
      </p:sp>
      <p:sp>
        <p:nvSpPr>
          <p:cNvPr id="8" name="Text 6"/>
          <p:cNvSpPr/>
          <p:nvPr/>
        </p:nvSpPr>
        <p:spPr>
          <a:xfrm>
            <a:off x="952500" y="5133677"/>
            <a:ext cx="5258562"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B6F77"/>
                </a:solidFill>
                <a:latin typeface="-apple-system" pitchFamily="34" charset="0"/>
                <a:ea typeface="-apple-system" pitchFamily="34" charset="-122"/>
                <a:cs typeface="-apple-system" pitchFamily="34" charset="-120"/>
              </a:rPr>
              <a:t>Takeaway: grounding is the bottleneck, not the planner.</a:t>
            </a:r>
            <a:endParaRPr lang="en-US" sz="1500" dirty="0"/>
          </a:p>
        </p:txBody>
      </p:sp>
      <p:sp>
        <p:nvSpPr>
          <p:cNvPr id="9" name="Text 7"/>
          <p:cNvSpPr/>
          <p:nvPr/>
        </p:nvSpPr>
        <p:spPr>
          <a:xfrm>
            <a:off x="6591300" y="3040335"/>
            <a:ext cx="5258562" cy="308595"/>
          </a:xfrm>
          <a:prstGeom prst="rect">
            <a:avLst/>
          </a:prstGeom>
          <a:noFill/>
          <a:ln/>
        </p:spPr>
        <p:txBody>
          <a:bodyPr wrap="square" lIns="25400" tIns="25400" rIns="25400" bIns="25400" rtlCol="0" anchor="t">
            <a:normAutofit/>
          </a:bodyPr>
          <a:lstStyle/>
          <a:p>
            <a:pPr algn="l" indent="0" marL="0">
              <a:lnSpc>
                <a:spcPct val="142000"/>
              </a:lnSpc>
              <a:buNone/>
            </a:pPr>
            <a:r>
              <a:rPr lang="en-US" sz="1500" spc="60" kern="0" dirty="0">
                <a:solidFill>
                  <a:srgbClr val="C41230"/>
                </a:solidFill>
                <a:latin typeface="JetBrains Mono" pitchFamily="34" charset="0"/>
                <a:ea typeface="JetBrains Mono" pitchFamily="34" charset="-122"/>
                <a:cs typeface="JetBrains Mono" pitchFamily="34" charset="-120"/>
              </a:rPr>
              <a:t>02 · STRETCH STACK</a:t>
            </a:r>
            <a:endParaRPr lang="en-US" sz="1500" dirty="0"/>
          </a:p>
        </p:txBody>
      </p:sp>
      <p:sp>
        <p:nvSpPr>
          <p:cNvPr id="10" name="Text 8"/>
          <p:cNvSpPr/>
          <p:nvPr/>
        </p:nvSpPr>
        <p:spPr>
          <a:xfrm>
            <a:off x="6591300" y="3463230"/>
            <a:ext cx="5258562" cy="443805"/>
          </a:xfrm>
          <a:prstGeom prst="rect">
            <a:avLst/>
          </a:prstGeom>
          <a:noFill/>
          <a:ln/>
        </p:spPr>
        <p:txBody>
          <a:bodyPr wrap="square" lIns="25400" tIns="25400" rIns="25400" bIns="25400" rtlCol="0" anchor="t">
            <a:normAutofit/>
          </a:bodyPr>
          <a:lstStyle/>
          <a:p>
            <a:pPr algn="l" indent="0" marL="0">
              <a:lnSpc>
                <a:spcPct val="142000"/>
              </a:lnSpc>
              <a:buNone/>
            </a:pPr>
            <a:r>
              <a:rPr lang="en-US" sz="2250" b="1" spc="-11" kern="0" dirty="0">
                <a:solidFill>
                  <a:srgbClr val="15171A"/>
                </a:solidFill>
                <a:latin typeface="Inter" pitchFamily="34" charset="0"/>
                <a:ea typeface="Inter" pitchFamily="34" charset="-122"/>
                <a:cs typeface="Inter" pitchFamily="34" charset="-120"/>
              </a:rPr>
              <a:t>Reliable mobile base</a:t>
            </a:r>
            <a:endParaRPr lang="en-US" sz="2250" dirty="0"/>
          </a:p>
        </p:txBody>
      </p:sp>
      <p:sp>
        <p:nvSpPr>
          <p:cNvPr id="11" name="Text 9"/>
          <p:cNvSpPr/>
          <p:nvPr/>
        </p:nvSpPr>
        <p:spPr>
          <a:xfrm>
            <a:off x="6591300" y="4002286"/>
            <a:ext cx="5258562" cy="1007566"/>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A3E45"/>
                </a:solidFill>
                <a:latin typeface="JetBrains Mono" pitchFamily="34" charset="0"/>
                <a:ea typeface="JetBrains Mono" pitchFamily="34" charset="-122"/>
                <a:cs typeface="JetBrains Mono" pitchFamily="34" charset="-120"/>
              </a:rPr>
              <a:t>stretch_nav2 </a:t>
            </a:r>
            <a:pPr algn="l" indent="0" marL="0">
              <a:lnSpc>
                <a:spcPct val="140000"/>
              </a:lnSpc>
              <a:buNone/>
            </a:pPr>
            <a:r>
              <a:rPr lang="en-US" sz="1800" dirty="0">
                <a:solidFill>
                  <a:srgbClr val="3A3E45"/>
                </a:solidFill>
                <a:latin typeface="-apple-system" pitchFamily="34" charset="0"/>
                <a:ea typeface="-apple-system" pitchFamily="34" charset="-122"/>
                <a:cs typeface="-apple-system" pitchFamily="34" charset="-120"/>
              </a:rPr>
              <a:t>+ AMCL give us planning, costmaps, and localization; </a:t>
            </a:r>
            <a:pPr algn="l" indent="0" marL="0">
              <a:lnSpc>
                <a:spcPct val="140000"/>
              </a:lnSpc>
              <a:buNone/>
            </a:pPr>
            <a:r>
              <a:rPr lang="en-US" sz="1800" dirty="0">
                <a:solidFill>
                  <a:srgbClr val="3A3E45"/>
                </a:solidFill>
                <a:latin typeface="JetBrains Mono" pitchFamily="34" charset="0"/>
                <a:ea typeface="JetBrains Mono" pitchFamily="34" charset="-122"/>
                <a:cs typeface="JetBrains Mono" pitchFamily="34" charset="-120"/>
              </a:rPr>
              <a:t>stretch_core </a:t>
            </a:r>
            <a:pPr algn="l" indent="0" marL="0">
              <a:lnSpc>
                <a:spcPct val="140000"/>
              </a:lnSpc>
              <a:buNone/>
            </a:pPr>
            <a:r>
              <a:rPr lang="en-US" sz="1800" dirty="0">
                <a:solidFill>
                  <a:srgbClr val="3A3E45"/>
                </a:solidFill>
                <a:latin typeface="-apple-system" pitchFamily="34" charset="0"/>
                <a:ea typeface="-apple-system" pitchFamily="34" charset="-122"/>
                <a:cs typeface="-apple-system" pitchFamily="34" charset="-120"/>
              </a:rPr>
              <a:t>exposes head D435i + gripper D405.</a:t>
            </a:r>
            <a:endParaRPr lang="en-US" sz="1800" dirty="0"/>
          </a:p>
        </p:txBody>
      </p:sp>
      <p:sp>
        <p:nvSpPr>
          <p:cNvPr id="12" name="Text 10"/>
          <p:cNvSpPr/>
          <p:nvPr/>
        </p:nvSpPr>
        <p:spPr>
          <a:xfrm>
            <a:off x="6591300" y="5143202"/>
            <a:ext cx="5258562"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B6F77"/>
                </a:solidFill>
                <a:latin typeface="-apple-system" pitchFamily="34" charset="0"/>
                <a:ea typeface="-apple-system" pitchFamily="34" charset="-122"/>
                <a:cs typeface="-apple-system" pitchFamily="34" charset="-120"/>
              </a:rPr>
              <a:t>We reuse — not rebuild — the navigation layer.</a:t>
            </a:r>
            <a:endParaRPr lang="en-US" sz="1500" dirty="0"/>
          </a:p>
        </p:txBody>
      </p:sp>
      <p:sp>
        <p:nvSpPr>
          <p:cNvPr id="13" name="Text 11"/>
          <p:cNvSpPr/>
          <p:nvPr/>
        </p:nvSpPr>
        <p:spPr>
          <a:xfrm>
            <a:off x="12230100" y="3040335"/>
            <a:ext cx="5258562" cy="308595"/>
          </a:xfrm>
          <a:prstGeom prst="rect">
            <a:avLst/>
          </a:prstGeom>
          <a:noFill/>
          <a:ln/>
        </p:spPr>
        <p:txBody>
          <a:bodyPr wrap="square" lIns="25400" tIns="25400" rIns="25400" bIns="25400" rtlCol="0" anchor="t">
            <a:normAutofit/>
          </a:bodyPr>
          <a:lstStyle/>
          <a:p>
            <a:pPr algn="l" indent="0" marL="0">
              <a:lnSpc>
                <a:spcPct val="142000"/>
              </a:lnSpc>
              <a:buNone/>
            </a:pPr>
            <a:r>
              <a:rPr lang="en-US" sz="1500" spc="60" kern="0" dirty="0">
                <a:solidFill>
                  <a:srgbClr val="C41230"/>
                </a:solidFill>
                <a:latin typeface="JetBrains Mono" pitchFamily="34" charset="0"/>
                <a:ea typeface="JetBrains Mono" pitchFamily="34" charset="-122"/>
                <a:cs typeface="JetBrains Mono" pitchFamily="34" charset="-120"/>
              </a:rPr>
              <a:t>03 · OPEN-VOCAB DETECTORS</a:t>
            </a:r>
            <a:endParaRPr lang="en-US" sz="1500" dirty="0"/>
          </a:p>
        </p:txBody>
      </p:sp>
      <p:sp>
        <p:nvSpPr>
          <p:cNvPr id="14" name="Text 12"/>
          <p:cNvSpPr/>
          <p:nvPr/>
        </p:nvSpPr>
        <p:spPr>
          <a:xfrm>
            <a:off x="12230100" y="3463230"/>
            <a:ext cx="5258562" cy="443805"/>
          </a:xfrm>
          <a:prstGeom prst="rect">
            <a:avLst/>
          </a:prstGeom>
          <a:noFill/>
          <a:ln/>
        </p:spPr>
        <p:txBody>
          <a:bodyPr wrap="square" lIns="25400" tIns="25400" rIns="25400" bIns="25400" rtlCol="0" anchor="t">
            <a:normAutofit/>
          </a:bodyPr>
          <a:lstStyle/>
          <a:p>
            <a:pPr algn="l" indent="0" marL="0">
              <a:lnSpc>
                <a:spcPct val="142000"/>
              </a:lnSpc>
              <a:buNone/>
            </a:pPr>
            <a:r>
              <a:rPr lang="en-US" sz="2250" b="1" spc="-11" kern="0" dirty="0">
                <a:solidFill>
                  <a:srgbClr val="15171A"/>
                </a:solidFill>
                <a:latin typeface="Inter" pitchFamily="34" charset="0"/>
                <a:ea typeface="Inter" pitchFamily="34" charset="-122"/>
                <a:cs typeface="Inter" pitchFamily="34" charset="-120"/>
              </a:rPr>
              <a:t>YOLOE + D405 close-range</a:t>
            </a:r>
            <a:endParaRPr lang="en-US" sz="2250" dirty="0"/>
          </a:p>
        </p:txBody>
      </p:sp>
      <p:sp>
        <p:nvSpPr>
          <p:cNvPr id="15" name="Text 13"/>
          <p:cNvSpPr/>
          <p:nvPr/>
        </p:nvSpPr>
        <p:spPr>
          <a:xfrm>
            <a:off x="12230100" y="4002286"/>
            <a:ext cx="5258562" cy="99804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3A3E45"/>
                </a:solidFill>
                <a:latin typeface="-apple-system" pitchFamily="34" charset="0"/>
                <a:ea typeface="-apple-system" pitchFamily="34" charset="-122"/>
                <a:cs typeface="-apple-system" pitchFamily="34" charset="-120"/>
              </a:rPr>
              <a:t>YOLOE (Ultralytics) provides promptable segmentation; the D405 gripper camera enables a second, close-range detection pass.</a:t>
            </a:r>
            <a:endParaRPr lang="en-US" sz="1800" dirty="0"/>
          </a:p>
        </p:txBody>
      </p:sp>
      <p:sp>
        <p:nvSpPr>
          <p:cNvPr id="16" name="Text 14"/>
          <p:cNvSpPr/>
          <p:nvPr/>
        </p:nvSpPr>
        <p:spPr>
          <a:xfrm>
            <a:off x="12230100" y="5133677"/>
            <a:ext cx="5258562"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B6F77"/>
                </a:solidFill>
                <a:latin typeface="-apple-system" pitchFamily="34" charset="0"/>
                <a:ea typeface="-apple-system" pitchFamily="34" charset="-122"/>
                <a:cs typeface="-apple-system" pitchFamily="34" charset="-120"/>
              </a:rPr>
              <a:t>Two cameras → two-stage visual grasp.</a:t>
            </a:r>
            <a:endParaRPr lang="en-US" sz="1500" dirty="0"/>
          </a:p>
        </p:txBody>
      </p:sp>
      <p:sp>
        <p:nvSpPr>
          <p:cNvPr id="17" name="Shape 15"/>
          <p:cNvSpPr/>
          <p:nvPr/>
        </p:nvSpPr>
        <p:spPr>
          <a:xfrm>
            <a:off x="952500" y="6267152"/>
            <a:ext cx="16383000" cy="19050"/>
          </a:xfrm>
          <a:prstGeom prst="rect">
            <a:avLst/>
          </a:prstGeom>
          <a:solidFill>
            <a:srgbClr val="15171A">
              <a:alpha val="22000"/>
            </a:srgbClr>
          </a:solidFill>
          <a:ln/>
        </p:spPr>
      </p:sp>
      <p:sp>
        <p:nvSpPr>
          <p:cNvPr id="18" name="Text 16"/>
          <p:cNvSpPr/>
          <p:nvPr/>
        </p:nvSpPr>
        <p:spPr>
          <a:xfrm>
            <a:off x="952500" y="6495752"/>
            <a:ext cx="16874490"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6B6F77"/>
                </a:solidFill>
                <a:latin typeface="-apple-system" pitchFamily="34" charset="0"/>
                <a:ea typeface="-apple-system" pitchFamily="34" charset="-122"/>
                <a:cs typeface="-apple-system" pitchFamily="34" charset="-120"/>
              </a:rPr>
              <a:t>Our contribution is the </a:t>
            </a:r>
            <a:pPr algn="l" indent="0" marL="0">
              <a:lnSpc>
                <a:spcPct val="140000"/>
              </a:lnSpc>
              <a:buNone/>
            </a:pPr>
            <a:r>
              <a:rPr lang="en-US" sz="1650" b="1" dirty="0">
                <a:solidFill>
                  <a:srgbClr val="15171A"/>
                </a:solidFill>
                <a:latin typeface="-apple-system" pitchFamily="34" charset="0"/>
                <a:ea typeface="-apple-system" pitchFamily="34" charset="-122"/>
                <a:cs typeface="-apple-system" pitchFamily="34" charset="-120"/>
              </a:rPr>
              <a:t>integration pattern </a:t>
            </a:r>
            <a:pPr algn="l" indent="0" marL="0">
              <a:lnSpc>
                <a:spcPct val="140000"/>
              </a:lnSpc>
              <a:buNone/>
            </a:pPr>
            <a:r>
              <a:rPr lang="en-US" sz="1650" dirty="0">
                <a:solidFill>
                  <a:srgbClr val="6B6F77"/>
                </a:solidFill>
                <a:latin typeface="-apple-system" pitchFamily="34" charset="0"/>
                <a:ea typeface="-apple-system" pitchFamily="34" charset="-122"/>
                <a:cs typeface="-apple-system" pitchFamily="34" charset="-120"/>
              </a:rPr>
              <a:t>: a thin topic contract between VLM planner, navigation coordinator, and two-stage manipulation that keeps each module independently testable on hardware.</a:t>
            </a:r>
            <a:endParaRPr lang="en-US" sz="1650" dirty="0"/>
          </a:p>
        </p:txBody>
      </p:sp>
      <p:sp>
        <p:nvSpPr>
          <p:cNvPr id="19" name="Text 17"/>
          <p:cNvSpPr/>
          <p:nvPr/>
        </p:nvSpPr>
        <p:spPr>
          <a:xfrm>
            <a:off x="952500" y="9624492"/>
            <a:ext cx="363258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16-762 · STRETCH REARRANGEMENT</a:t>
            </a:r>
            <a:endParaRPr lang="en-US" sz="1350" dirty="0"/>
          </a:p>
        </p:txBody>
      </p:sp>
      <p:sp>
        <p:nvSpPr>
          <p:cNvPr id="20" name="Text 18"/>
          <p:cNvSpPr/>
          <p:nvPr/>
        </p:nvSpPr>
        <p:spPr>
          <a:xfrm>
            <a:off x="17117318" y="9624492"/>
            <a:ext cx="294382"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03</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C1F"/>
        </a:solidFill>
      </p:bgPr>
    </p:bg>
    <p:spTree>
      <p:nvGrpSpPr>
        <p:cNvPr id="1" name=""/>
        <p:cNvGrpSpPr/>
        <p:nvPr/>
      </p:nvGrpSpPr>
      <p:grpSpPr>
        <a:xfrm>
          <a:off x="0" y="0"/>
          <a:ext cx="0" cy="0"/>
          <a:chOff x="0" y="0"/>
          <a:chExt cx="0" cy="0"/>
        </a:xfrm>
      </p:grpSpPr>
      <p:sp>
        <p:nvSpPr>
          <p:cNvPr id="2" name="Text 0"/>
          <p:cNvSpPr/>
          <p:nvPr/>
        </p:nvSpPr>
        <p:spPr>
          <a:xfrm>
            <a:off x="952500" y="419100"/>
            <a:ext cx="901675"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FFFFFF">
                    <a:alpha val="40000"/>
                  </a:srgbClr>
                </a:solidFill>
                <a:latin typeface="-apple-system" pitchFamily="34" charset="0"/>
                <a:ea typeface="-apple-system" pitchFamily="34" charset="-122"/>
                <a:cs typeface="-apple-system" pitchFamily="34" charset="-120"/>
              </a:rPr>
              <a:t>PART I</a:t>
            </a:r>
            <a:endParaRPr lang="en-US" sz="1350" dirty="0"/>
          </a:p>
        </p:txBody>
      </p:sp>
      <p:sp>
        <p:nvSpPr>
          <p:cNvPr id="3" name="Text 1"/>
          <p:cNvSpPr/>
          <p:nvPr/>
        </p:nvSpPr>
        <p:spPr>
          <a:xfrm>
            <a:off x="14618419" y="419100"/>
            <a:ext cx="279859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FFFFFF">
                    <a:alpha val="40000"/>
                  </a:srgbClr>
                </a:solidFill>
                <a:latin typeface="-apple-system" pitchFamily="34" charset="0"/>
                <a:ea typeface="-apple-system" pitchFamily="34" charset="-122"/>
                <a:cs typeface="-apple-system" pitchFamily="34" charset="-120"/>
              </a:rPr>
              <a:t>STRETCH REARRANGEMENT</a:t>
            </a:r>
            <a:endParaRPr lang="en-US" sz="1350" dirty="0"/>
          </a:p>
        </p:txBody>
      </p:sp>
      <p:sp>
        <p:nvSpPr>
          <p:cNvPr id="4" name="Text 2"/>
          <p:cNvSpPr/>
          <p:nvPr/>
        </p:nvSpPr>
        <p:spPr>
          <a:xfrm>
            <a:off x="952500" y="2727201"/>
            <a:ext cx="16874490" cy="416793"/>
          </a:xfrm>
          <a:prstGeom prst="rect">
            <a:avLst/>
          </a:prstGeom>
          <a:noFill/>
          <a:ln/>
        </p:spPr>
        <p:txBody>
          <a:bodyPr wrap="square" lIns="25400" tIns="25400" rIns="25400" bIns="25400" rtlCol="0" anchor="t">
            <a:normAutofit/>
          </a:bodyPr>
          <a:lstStyle/>
          <a:p>
            <a:pPr algn="l" indent="0" marL="0">
              <a:lnSpc>
                <a:spcPct val="142000"/>
              </a:lnSpc>
              <a:buNone/>
            </a:pPr>
            <a:r>
              <a:rPr lang="en-US" sz="2100" spc="315" kern="0" dirty="0">
                <a:solidFill>
                  <a:srgbClr val="FFFFFF">
                    <a:alpha val="55000"/>
                  </a:srgbClr>
                </a:solidFill>
                <a:latin typeface="JetBrains Mono" pitchFamily="34" charset="0"/>
                <a:ea typeface="JetBrains Mono" pitchFamily="34" charset="-122"/>
                <a:cs typeface="JetBrains Mono" pitchFamily="34" charset="-120"/>
              </a:rPr>
              <a:t>§ 04 — ARCHITECTURE</a:t>
            </a:r>
            <a:endParaRPr lang="en-US" sz="2100" dirty="0"/>
          </a:p>
        </p:txBody>
      </p:sp>
      <p:sp>
        <p:nvSpPr>
          <p:cNvPr id="5" name="Text 3"/>
          <p:cNvSpPr/>
          <p:nvPr/>
        </p:nvSpPr>
        <p:spPr>
          <a:xfrm>
            <a:off x="952500" y="3391644"/>
            <a:ext cx="14716125" cy="2933700"/>
          </a:xfrm>
          <a:prstGeom prst="rect">
            <a:avLst/>
          </a:prstGeom>
          <a:noFill/>
          <a:ln/>
        </p:spPr>
        <p:txBody>
          <a:bodyPr wrap="square" lIns="25400" tIns="25400" rIns="25400" bIns="25400" rtlCol="0" anchor="t">
            <a:normAutofit/>
          </a:bodyPr>
          <a:lstStyle/>
          <a:p>
            <a:pPr algn="l" indent="0" marL="0">
              <a:lnSpc>
                <a:spcPct val="95000"/>
              </a:lnSpc>
              <a:buNone/>
            </a:pPr>
            <a:r>
              <a:rPr lang="en-US" sz="12000" b="1" spc="-300" kern="0" dirty="0">
                <a:solidFill>
                  <a:srgbClr val="FBF6EA"/>
                </a:solidFill>
                <a:latin typeface="Source Serif 4" pitchFamily="34" charset="0"/>
                <a:ea typeface="Source Serif 4" pitchFamily="34" charset="-122"/>
                <a:cs typeface="Source Serif 4" pitchFamily="34" charset="-120"/>
              </a:rPr>
              <a:t>Three nodes, one topic contract.</a:t>
            </a:r>
            <a:endParaRPr lang="en-US" sz="12000" dirty="0"/>
          </a:p>
        </p:txBody>
      </p:sp>
      <p:sp>
        <p:nvSpPr>
          <p:cNvPr id="6" name="Text 4"/>
          <p:cNvSpPr/>
          <p:nvPr/>
        </p:nvSpPr>
        <p:spPr>
          <a:xfrm>
            <a:off x="952500" y="6706344"/>
            <a:ext cx="11772900" cy="89148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FFFFF">
                    <a:alpha val="70000"/>
                  </a:srgbClr>
                </a:solidFill>
                <a:latin typeface="-apple-system" pitchFamily="34" charset="0"/>
                <a:ea typeface="-apple-system" pitchFamily="34" charset="-122"/>
                <a:cs typeface="-apple-system" pitchFamily="34" charset="-120"/>
              </a:rPr>
              <a:t>Task planner → task executor → navigation &amp; manipulation. Standard ROS 2 messages only — no custom types.</a:t>
            </a:r>
            <a:endParaRPr lang="en-US" sz="2400" dirty="0"/>
          </a:p>
        </p:txBody>
      </p:sp>
      <p:sp>
        <p:nvSpPr>
          <p:cNvPr id="7" name="Text 5"/>
          <p:cNvSpPr/>
          <p:nvPr/>
        </p:nvSpPr>
        <p:spPr>
          <a:xfrm>
            <a:off x="952500" y="9624492"/>
            <a:ext cx="69659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FFFFFF">
                    <a:alpha val="40000"/>
                  </a:srgbClr>
                </a:solidFill>
                <a:latin typeface="-apple-system" pitchFamily="34" charset="0"/>
                <a:ea typeface="-apple-system" pitchFamily="34" charset="-122"/>
                <a:cs typeface="-apple-system" pitchFamily="34" charset="-120"/>
              </a:rPr>
              <a:t>04 / 12</a:t>
            </a:r>
            <a:endParaRPr lang="en-US" sz="1350" dirty="0"/>
          </a:p>
        </p:txBody>
      </p:sp>
      <p:sp>
        <p:nvSpPr>
          <p:cNvPr id="8" name="Text 6"/>
          <p:cNvSpPr/>
          <p:nvPr/>
        </p:nvSpPr>
        <p:spPr>
          <a:xfrm>
            <a:off x="14282068" y="9624492"/>
            <a:ext cx="3145035"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FFFFFF">
                    <a:alpha val="40000"/>
                  </a:srgbClr>
                </a:solidFill>
                <a:latin typeface="-apple-system" pitchFamily="34" charset="0"/>
                <a:ea typeface="-apple-system" pitchFamily="34" charset="-122"/>
                <a:cs typeface="-apple-system" pitchFamily="34" charset="-120"/>
              </a:rPr>
              <a:t>HAOKUN · JINYAO · WEERACHAI</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8"/>
        </a:solidFill>
      </p:bgPr>
    </p:bg>
    <p:spTree>
      <p:nvGrpSpPr>
        <p:cNvPr id="1" name=""/>
        <p:cNvGrpSpPr/>
        <p:nvPr/>
      </p:nvGrpSpPr>
      <p:grpSpPr>
        <a:xfrm>
          <a:off x="0" y="0"/>
          <a:ext cx="0" cy="0"/>
          <a:chOff x="0" y="0"/>
          <a:chExt cx="0" cy="0"/>
        </a:xfrm>
      </p:grpSpPr>
      <p:sp>
        <p:nvSpPr>
          <p:cNvPr id="2" name="Text 0"/>
          <p:cNvSpPr/>
          <p:nvPr/>
        </p:nvSpPr>
        <p:spPr>
          <a:xfrm>
            <a:off x="952500" y="419100"/>
            <a:ext cx="2165077"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SYSTEM OVERVIEW</a:t>
            </a:r>
            <a:endParaRPr lang="en-US" sz="1350" dirty="0"/>
          </a:p>
        </p:txBody>
      </p:sp>
      <p:sp>
        <p:nvSpPr>
          <p:cNvPr id="3" name="Text 1"/>
          <p:cNvSpPr/>
          <p:nvPr/>
        </p:nvSpPr>
        <p:spPr>
          <a:xfrm>
            <a:off x="16715110" y="419100"/>
            <a:ext cx="69659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05 / 12</a:t>
            </a:r>
            <a:endParaRPr lang="en-US" sz="1350" dirty="0"/>
          </a:p>
        </p:txBody>
      </p:sp>
      <p:sp>
        <p:nvSpPr>
          <p:cNvPr id="4" name="Text 2"/>
          <p:cNvSpPr/>
          <p:nvPr/>
        </p:nvSpPr>
        <p:spPr>
          <a:xfrm>
            <a:off x="952500" y="1809750"/>
            <a:ext cx="1687449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b="1" spc="-72" kern="0" dirty="0">
                <a:solidFill>
                  <a:srgbClr val="15171A"/>
                </a:solidFill>
                <a:latin typeface="Source Serif 4" pitchFamily="34" charset="0"/>
                <a:ea typeface="Source Serif 4" pitchFamily="34" charset="-122"/>
                <a:cs typeface="Source Serif 4" pitchFamily="34" charset="-120"/>
              </a:rPr>
              <a:t>End-to-end data flow.</a:t>
            </a:r>
            <a:endParaRPr lang="en-US" sz="4800" dirty="0"/>
          </a:p>
        </p:txBody>
      </p:sp>
      <p:sp>
        <p:nvSpPr>
          <p:cNvPr id="5" name="Shape 3"/>
          <p:cNvSpPr/>
          <p:nvPr/>
        </p:nvSpPr>
        <p:spPr>
          <a:xfrm>
            <a:off x="952500" y="2792685"/>
            <a:ext cx="5054575" cy="1188244"/>
          </a:xfrm>
          <a:prstGeom prst="rect">
            <a:avLst/>
          </a:prstGeom>
          <a:solidFill>
            <a:srgbClr val="FFFFFF"/>
          </a:solidFill>
          <a:ln/>
        </p:spPr>
      </p:sp>
      <p:sp>
        <p:nvSpPr>
          <p:cNvPr id="6" name="Shape 4"/>
          <p:cNvSpPr/>
          <p:nvPr/>
        </p:nvSpPr>
        <p:spPr>
          <a:xfrm>
            <a:off x="952500" y="3966642"/>
            <a:ext cx="5054575" cy="14288"/>
          </a:xfrm>
          <a:prstGeom prst="rect">
            <a:avLst/>
          </a:prstGeom>
          <a:solidFill>
            <a:srgbClr val="15171A"/>
          </a:solidFill>
          <a:ln/>
        </p:spPr>
      </p:sp>
      <p:sp>
        <p:nvSpPr>
          <p:cNvPr id="7" name="Shape 5"/>
          <p:cNvSpPr/>
          <p:nvPr/>
        </p:nvSpPr>
        <p:spPr>
          <a:xfrm>
            <a:off x="952500" y="2792685"/>
            <a:ext cx="5054575" cy="38100"/>
          </a:xfrm>
          <a:prstGeom prst="rect">
            <a:avLst/>
          </a:prstGeom>
          <a:solidFill>
            <a:srgbClr val="C41230"/>
          </a:solidFill>
          <a:ln/>
        </p:spPr>
      </p:sp>
      <p:sp>
        <p:nvSpPr>
          <p:cNvPr id="8" name="Shape 6"/>
          <p:cNvSpPr/>
          <p:nvPr/>
        </p:nvSpPr>
        <p:spPr>
          <a:xfrm>
            <a:off x="952500" y="2792685"/>
            <a:ext cx="14288" cy="1188244"/>
          </a:xfrm>
          <a:prstGeom prst="rect">
            <a:avLst/>
          </a:prstGeom>
          <a:solidFill>
            <a:srgbClr val="15171A"/>
          </a:solidFill>
          <a:ln/>
        </p:spPr>
      </p:sp>
      <p:sp>
        <p:nvSpPr>
          <p:cNvPr id="9" name="Shape 7"/>
          <p:cNvSpPr/>
          <p:nvPr/>
        </p:nvSpPr>
        <p:spPr>
          <a:xfrm>
            <a:off x="5992788" y="2792685"/>
            <a:ext cx="14288" cy="1188244"/>
          </a:xfrm>
          <a:prstGeom prst="rect">
            <a:avLst/>
          </a:prstGeom>
          <a:solidFill>
            <a:srgbClr val="15171A"/>
          </a:solidFill>
          <a:ln/>
        </p:spPr>
      </p:sp>
      <p:sp>
        <p:nvSpPr>
          <p:cNvPr id="10" name="Text 8"/>
          <p:cNvSpPr/>
          <p:nvPr/>
        </p:nvSpPr>
        <p:spPr>
          <a:xfrm>
            <a:off x="1138238" y="2983185"/>
            <a:ext cx="4823593"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5171A"/>
                </a:solidFill>
                <a:latin typeface="Inter" pitchFamily="34" charset="0"/>
                <a:ea typeface="Inter" pitchFamily="34" charset="-122"/>
                <a:cs typeface="Inter" pitchFamily="34" charset="-120"/>
              </a:rPr>
              <a:t>Operator</a:t>
            </a:r>
            <a:endParaRPr lang="en-US" sz="1650" dirty="0"/>
          </a:p>
        </p:txBody>
      </p:sp>
      <p:sp>
        <p:nvSpPr>
          <p:cNvPr id="11" name="Text 9"/>
          <p:cNvSpPr/>
          <p:nvPr/>
        </p:nvSpPr>
        <p:spPr>
          <a:xfrm>
            <a:off x="1138238" y="3302273"/>
            <a:ext cx="4823593" cy="228600"/>
          </a:xfrm>
          <a:prstGeom prst="rect">
            <a:avLst/>
          </a:prstGeom>
          <a:noFill/>
          <a:ln/>
        </p:spPr>
        <p:txBody>
          <a:bodyPr wrap="square" lIns="25400" tIns="25400" rIns="25400" bIns="25400" rtlCol="0" anchor="t">
            <a:normAutofit/>
          </a:bodyPr>
          <a:lstStyle/>
          <a:p>
            <a:pPr algn="l" indent="0" marL="0">
              <a:lnSpc>
                <a:spcPct val="125000"/>
              </a:lnSpc>
              <a:buNone/>
            </a:pPr>
            <a:r>
              <a:rPr lang="en-US" sz="1200" dirty="0">
                <a:solidFill>
                  <a:srgbClr val="6B6F77"/>
                </a:solidFill>
                <a:latin typeface="JetBrains Mono" pitchFamily="34" charset="0"/>
                <a:ea typeface="JetBrains Mono" pitchFamily="34" charset="-122"/>
                <a:cs typeface="JetBrains Mono" pitchFamily="34" charset="-120"/>
              </a:rPr>
              <a:t>/instruction/text</a:t>
            </a:r>
            <a:endParaRPr lang="en-US" sz="1200" dirty="0"/>
          </a:p>
        </p:txBody>
      </p:sp>
      <p:sp>
        <p:nvSpPr>
          <p:cNvPr id="12" name="Text 10"/>
          <p:cNvSpPr/>
          <p:nvPr/>
        </p:nvSpPr>
        <p:spPr>
          <a:xfrm>
            <a:off x="1138238" y="3588023"/>
            <a:ext cx="4823593" cy="264319"/>
          </a:xfrm>
          <a:prstGeom prst="rect">
            <a:avLst/>
          </a:prstGeom>
          <a:noFill/>
          <a:ln/>
        </p:spPr>
        <p:txBody>
          <a:bodyPr wrap="square" lIns="25400" tIns="25400" rIns="25400" bIns="25400" rtlCol="0" anchor="t">
            <a:normAutofit/>
          </a:bodyPr>
          <a:lstStyle/>
          <a:p>
            <a:pPr algn="l" indent="0" marL="0">
              <a:lnSpc>
                <a:spcPct val="125000"/>
              </a:lnSpc>
              <a:buNone/>
            </a:pPr>
            <a:r>
              <a:rPr lang="en-US" sz="1425" i="1" dirty="0">
                <a:solidFill>
                  <a:srgbClr val="3A3E45"/>
                </a:solidFill>
                <a:latin typeface="Inter" pitchFamily="34" charset="0"/>
                <a:ea typeface="Inter" pitchFamily="34" charset="-122"/>
                <a:cs typeface="Inter" pitchFamily="34" charset="-120"/>
              </a:rPr>
              <a:t>"put the orange cup in B…"</a:t>
            </a:r>
            <a:endParaRPr lang="en-US" sz="1425" dirty="0"/>
          </a:p>
        </p:txBody>
      </p:sp>
      <p:sp>
        <p:nvSpPr>
          <p:cNvPr id="13" name="Text 11"/>
          <p:cNvSpPr/>
          <p:nvPr/>
        </p:nvSpPr>
        <p:spPr>
          <a:xfrm>
            <a:off x="6083275" y="3285381"/>
            <a:ext cx="457200" cy="240953"/>
          </a:xfrm>
          <a:prstGeom prst="rect">
            <a:avLst/>
          </a:prstGeom>
          <a:noFill/>
          <a:ln/>
        </p:spPr>
        <p:txBody>
          <a:bodyPr wrap="square" lIns="25400" tIns="25400" rIns="25400" bIns="25400" rtlCol="0" anchor="ctr">
            <a:normAutofit/>
          </a:bodyPr>
          <a:lstStyle/>
          <a:p>
            <a:pPr algn="ctr" indent="0" marL="0">
              <a:lnSpc>
                <a:spcPct val="142000"/>
              </a:lnSpc>
              <a:buNone/>
            </a:pPr>
            <a:r>
              <a:rPr lang="en-US" sz="1125" dirty="0">
                <a:solidFill>
                  <a:srgbClr val="15171A"/>
                </a:solidFill>
                <a:latin typeface="JetBrains Mono" pitchFamily="34" charset="0"/>
                <a:ea typeface="JetBrains Mono" pitchFamily="34" charset="-122"/>
                <a:cs typeface="JetBrains Mono" pitchFamily="34" charset="-120"/>
              </a:rPr>
              <a:t>→</a:t>
            </a:r>
            <a:endParaRPr lang="en-US" sz="1125" dirty="0"/>
          </a:p>
        </p:txBody>
      </p:sp>
      <p:sp>
        <p:nvSpPr>
          <p:cNvPr id="14" name="Shape 12"/>
          <p:cNvSpPr/>
          <p:nvPr/>
        </p:nvSpPr>
        <p:spPr>
          <a:xfrm>
            <a:off x="6616675" y="2792685"/>
            <a:ext cx="5054575" cy="1188244"/>
          </a:xfrm>
          <a:prstGeom prst="rect">
            <a:avLst/>
          </a:prstGeom>
          <a:solidFill>
            <a:srgbClr val="FFFFFF"/>
          </a:solidFill>
          <a:ln/>
        </p:spPr>
      </p:sp>
      <p:sp>
        <p:nvSpPr>
          <p:cNvPr id="15" name="Shape 13"/>
          <p:cNvSpPr/>
          <p:nvPr/>
        </p:nvSpPr>
        <p:spPr>
          <a:xfrm>
            <a:off x="6616675" y="3966642"/>
            <a:ext cx="5054575" cy="14288"/>
          </a:xfrm>
          <a:prstGeom prst="rect">
            <a:avLst/>
          </a:prstGeom>
          <a:solidFill>
            <a:srgbClr val="15171A"/>
          </a:solidFill>
          <a:ln/>
        </p:spPr>
      </p:sp>
      <p:sp>
        <p:nvSpPr>
          <p:cNvPr id="16" name="Shape 14"/>
          <p:cNvSpPr/>
          <p:nvPr/>
        </p:nvSpPr>
        <p:spPr>
          <a:xfrm>
            <a:off x="6616675" y="2792685"/>
            <a:ext cx="5054575" cy="38100"/>
          </a:xfrm>
          <a:prstGeom prst="rect">
            <a:avLst/>
          </a:prstGeom>
          <a:solidFill>
            <a:srgbClr val="C41230"/>
          </a:solidFill>
          <a:ln/>
        </p:spPr>
      </p:sp>
      <p:sp>
        <p:nvSpPr>
          <p:cNvPr id="17" name="Shape 15"/>
          <p:cNvSpPr/>
          <p:nvPr/>
        </p:nvSpPr>
        <p:spPr>
          <a:xfrm>
            <a:off x="6616675" y="2792685"/>
            <a:ext cx="14288" cy="1188244"/>
          </a:xfrm>
          <a:prstGeom prst="rect">
            <a:avLst/>
          </a:prstGeom>
          <a:solidFill>
            <a:srgbClr val="15171A"/>
          </a:solidFill>
          <a:ln/>
        </p:spPr>
      </p:sp>
      <p:sp>
        <p:nvSpPr>
          <p:cNvPr id="18" name="Shape 16"/>
          <p:cNvSpPr/>
          <p:nvPr/>
        </p:nvSpPr>
        <p:spPr>
          <a:xfrm>
            <a:off x="11656963" y="2792685"/>
            <a:ext cx="14288" cy="1188244"/>
          </a:xfrm>
          <a:prstGeom prst="rect">
            <a:avLst/>
          </a:prstGeom>
          <a:solidFill>
            <a:srgbClr val="15171A"/>
          </a:solidFill>
          <a:ln/>
        </p:spPr>
      </p:sp>
      <p:sp>
        <p:nvSpPr>
          <p:cNvPr id="19" name="Text 17"/>
          <p:cNvSpPr/>
          <p:nvPr/>
        </p:nvSpPr>
        <p:spPr>
          <a:xfrm>
            <a:off x="6802413" y="2983185"/>
            <a:ext cx="4823593"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5171A"/>
                </a:solidFill>
                <a:latin typeface="Inter" pitchFamily="34" charset="0"/>
                <a:ea typeface="Inter" pitchFamily="34" charset="-122"/>
                <a:cs typeface="Inter" pitchFamily="34" charset="-120"/>
              </a:rPr>
              <a:t>task_planner_node</a:t>
            </a:r>
            <a:endParaRPr lang="en-US" sz="1650" dirty="0"/>
          </a:p>
        </p:txBody>
      </p:sp>
      <p:sp>
        <p:nvSpPr>
          <p:cNvPr id="20" name="Text 18"/>
          <p:cNvSpPr/>
          <p:nvPr/>
        </p:nvSpPr>
        <p:spPr>
          <a:xfrm>
            <a:off x="6802413" y="3302273"/>
            <a:ext cx="4823593" cy="228600"/>
          </a:xfrm>
          <a:prstGeom prst="rect">
            <a:avLst/>
          </a:prstGeom>
          <a:noFill/>
          <a:ln/>
        </p:spPr>
        <p:txBody>
          <a:bodyPr wrap="square" lIns="25400" tIns="25400" rIns="25400" bIns="25400" rtlCol="0" anchor="t">
            <a:normAutofit/>
          </a:bodyPr>
          <a:lstStyle/>
          <a:p>
            <a:pPr algn="l" indent="0" marL="0">
              <a:lnSpc>
                <a:spcPct val="125000"/>
              </a:lnSpc>
              <a:buNone/>
            </a:pPr>
            <a:r>
              <a:rPr lang="en-US" sz="1200" dirty="0">
                <a:solidFill>
                  <a:srgbClr val="6B6F77"/>
                </a:solidFill>
                <a:latin typeface="JetBrains Mono" pitchFamily="34" charset="0"/>
                <a:ea typeface="JetBrains Mono" pitchFamily="34" charset="-122"/>
                <a:cs typeface="JetBrains Mono" pitchFamily="34" charset="-120"/>
              </a:rPr>
              <a:t>Gemini 2.5 Flash · VLM</a:t>
            </a:r>
            <a:endParaRPr lang="en-US" sz="1200" dirty="0"/>
          </a:p>
        </p:txBody>
      </p:sp>
      <p:sp>
        <p:nvSpPr>
          <p:cNvPr id="21" name="Text 19"/>
          <p:cNvSpPr/>
          <p:nvPr/>
        </p:nvSpPr>
        <p:spPr>
          <a:xfrm>
            <a:off x="6802413" y="3588023"/>
            <a:ext cx="4823593" cy="264319"/>
          </a:xfrm>
          <a:prstGeom prst="rect">
            <a:avLst/>
          </a:prstGeom>
          <a:noFill/>
          <a:ln/>
        </p:spPr>
        <p:txBody>
          <a:bodyPr wrap="square" lIns="25400" tIns="25400" rIns="25400" bIns="25400" rtlCol="0" anchor="t">
            <a:normAutofit/>
          </a:bodyPr>
          <a:lstStyle/>
          <a:p>
            <a:pPr algn="l" indent="0" marL="0">
              <a:lnSpc>
                <a:spcPct val="125000"/>
              </a:lnSpc>
              <a:buNone/>
            </a:pPr>
            <a:r>
              <a:rPr lang="en-US" sz="1425" dirty="0">
                <a:solidFill>
                  <a:srgbClr val="3A3E45"/>
                </a:solidFill>
                <a:latin typeface="Inter" pitchFamily="34" charset="0"/>
                <a:ea typeface="Inter" pitchFamily="34" charset="-122"/>
                <a:cs typeface="Inter" pitchFamily="34" charset="-120"/>
              </a:rPr>
              <a:t>JSON plan · ordered (pick, place) pairs</a:t>
            </a:r>
            <a:endParaRPr lang="en-US" sz="1425" dirty="0"/>
          </a:p>
        </p:txBody>
      </p:sp>
      <p:sp>
        <p:nvSpPr>
          <p:cNvPr id="22" name="Text 20"/>
          <p:cNvSpPr/>
          <p:nvPr/>
        </p:nvSpPr>
        <p:spPr>
          <a:xfrm>
            <a:off x="11747450" y="3285381"/>
            <a:ext cx="457200" cy="240953"/>
          </a:xfrm>
          <a:prstGeom prst="rect">
            <a:avLst/>
          </a:prstGeom>
          <a:noFill/>
          <a:ln/>
        </p:spPr>
        <p:txBody>
          <a:bodyPr wrap="square" lIns="25400" tIns="25400" rIns="25400" bIns="25400" rtlCol="0" anchor="ctr">
            <a:normAutofit/>
          </a:bodyPr>
          <a:lstStyle/>
          <a:p>
            <a:pPr algn="ctr" indent="0" marL="0">
              <a:lnSpc>
                <a:spcPct val="142000"/>
              </a:lnSpc>
              <a:buNone/>
            </a:pPr>
            <a:r>
              <a:rPr lang="en-US" sz="1125" dirty="0">
                <a:solidFill>
                  <a:srgbClr val="15171A"/>
                </a:solidFill>
                <a:latin typeface="JetBrains Mono" pitchFamily="34" charset="0"/>
                <a:ea typeface="JetBrains Mono" pitchFamily="34" charset="-122"/>
                <a:cs typeface="JetBrains Mono" pitchFamily="34" charset="-120"/>
              </a:rPr>
              <a:t>→</a:t>
            </a:r>
            <a:endParaRPr lang="en-US" sz="1125" dirty="0"/>
          </a:p>
        </p:txBody>
      </p:sp>
      <p:sp>
        <p:nvSpPr>
          <p:cNvPr id="23" name="Shape 21"/>
          <p:cNvSpPr/>
          <p:nvPr/>
        </p:nvSpPr>
        <p:spPr>
          <a:xfrm>
            <a:off x="12280850" y="2792685"/>
            <a:ext cx="5054650" cy="1188244"/>
          </a:xfrm>
          <a:prstGeom prst="rect">
            <a:avLst/>
          </a:prstGeom>
          <a:solidFill>
            <a:srgbClr val="FFFFFF"/>
          </a:solidFill>
          <a:ln/>
        </p:spPr>
      </p:sp>
      <p:sp>
        <p:nvSpPr>
          <p:cNvPr id="24" name="Shape 22"/>
          <p:cNvSpPr/>
          <p:nvPr/>
        </p:nvSpPr>
        <p:spPr>
          <a:xfrm>
            <a:off x="12280850" y="3966642"/>
            <a:ext cx="5054650" cy="14288"/>
          </a:xfrm>
          <a:prstGeom prst="rect">
            <a:avLst/>
          </a:prstGeom>
          <a:solidFill>
            <a:srgbClr val="15171A"/>
          </a:solidFill>
          <a:ln/>
        </p:spPr>
      </p:sp>
      <p:sp>
        <p:nvSpPr>
          <p:cNvPr id="25" name="Shape 23"/>
          <p:cNvSpPr/>
          <p:nvPr/>
        </p:nvSpPr>
        <p:spPr>
          <a:xfrm>
            <a:off x="12280850" y="2792685"/>
            <a:ext cx="5054650" cy="38100"/>
          </a:xfrm>
          <a:prstGeom prst="rect">
            <a:avLst/>
          </a:prstGeom>
          <a:solidFill>
            <a:srgbClr val="C41230"/>
          </a:solidFill>
          <a:ln/>
        </p:spPr>
      </p:sp>
      <p:sp>
        <p:nvSpPr>
          <p:cNvPr id="26" name="Shape 24"/>
          <p:cNvSpPr/>
          <p:nvPr/>
        </p:nvSpPr>
        <p:spPr>
          <a:xfrm>
            <a:off x="12280850" y="2792685"/>
            <a:ext cx="14288" cy="1188244"/>
          </a:xfrm>
          <a:prstGeom prst="rect">
            <a:avLst/>
          </a:prstGeom>
          <a:solidFill>
            <a:srgbClr val="15171A"/>
          </a:solidFill>
          <a:ln/>
        </p:spPr>
      </p:sp>
      <p:sp>
        <p:nvSpPr>
          <p:cNvPr id="27" name="Shape 25"/>
          <p:cNvSpPr/>
          <p:nvPr/>
        </p:nvSpPr>
        <p:spPr>
          <a:xfrm>
            <a:off x="17321213" y="2792685"/>
            <a:ext cx="14288" cy="1188244"/>
          </a:xfrm>
          <a:prstGeom prst="rect">
            <a:avLst/>
          </a:prstGeom>
          <a:solidFill>
            <a:srgbClr val="15171A"/>
          </a:solidFill>
          <a:ln/>
        </p:spPr>
      </p:sp>
      <p:sp>
        <p:nvSpPr>
          <p:cNvPr id="28" name="Text 26"/>
          <p:cNvSpPr/>
          <p:nvPr/>
        </p:nvSpPr>
        <p:spPr>
          <a:xfrm>
            <a:off x="12466588" y="2983185"/>
            <a:ext cx="4823670"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5171A"/>
                </a:solidFill>
                <a:latin typeface="Inter" pitchFamily="34" charset="0"/>
                <a:ea typeface="Inter" pitchFamily="34" charset="-122"/>
                <a:cs typeface="Inter" pitchFamily="34" charset="-120"/>
              </a:rPr>
              <a:t>task_executor_node</a:t>
            </a:r>
            <a:endParaRPr lang="en-US" sz="1650" dirty="0"/>
          </a:p>
        </p:txBody>
      </p:sp>
      <p:sp>
        <p:nvSpPr>
          <p:cNvPr id="29" name="Text 27"/>
          <p:cNvSpPr/>
          <p:nvPr/>
        </p:nvSpPr>
        <p:spPr>
          <a:xfrm>
            <a:off x="12466588" y="3302273"/>
            <a:ext cx="4823670" cy="228600"/>
          </a:xfrm>
          <a:prstGeom prst="rect">
            <a:avLst/>
          </a:prstGeom>
          <a:noFill/>
          <a:ln/>
        </p:spPr>
        <p:txBody>
          <a:bodyPr wrap="square" lIns="25400" tIns="25400" rIns="25400" bIns="25400" rtlCol="0" anchor="t">
            <a:normAutofit/>
          </a:bodyPr>
          <a:lstStyle/>
          <a:p>
            <a:pPr algn="l" indent="0" marL="0">
              <a:lnSpc>
                <a:spcPct val="125000"/>
              </a:lnSpc>
              <a:buNone/>
            </a:pPr>
            <a:r>
              <a:rPr lang="en-US" sz="1200" dirty="0">
                <a:solidFill>
                  <a:srgbClr val="6B6F77"/>
                </a:solidFill>
                <a:latin typeface="JetBrains Mono" pitchFamily="34" charset="0"/>
                <a:ea typeface="JetBrains Mono" pitchFamily="34" charset="-122"/>
                <a:cs typeface="JetBrains Mono" pitchFamily="34" charset="-120"/>
              </a:rPr>
              <a:t>Coordinator · state machine</a:t>
            </a:r>
            <a:endParaRPr lang="en-US" sz="1200" dirty="0"/>
          </a:p>
        </p:txBody>
      </p:sp>
      <p:sp>
        <p:nvSpPr>
          <p:cNvPr id="30" name="Text 28"/>
          <p:cNvSpPr/>
          <p:nvPr/>
        </p:nvSpPr>
        <p:spPr>
          <a:xfrm>
            <a:off x="12466588" y="3588023"/>
            <a:ext cx="4823670" cy="264319"/>
          </a:xfrm>
          <a:prstGeom prst="rect">
            <a:avLst/>
          </a:prstGeom>
          <a:noFill/>
          <a:ln/>
        </p:spPr>
        <p:txBody>
          <a:bodyPr wrap="square" lIns="25400" tIns="25400" rIns="25400" bIns="25400" rtlCol="0" anchor="t">
            <a:normAutofit/>
          </a:bodyPr>
          <a:lstStyle/>
          <a:p>
            <a:pPr algn="l" indent="0" marL="0">
              <a:lnSpc>
                <a:spcPct val="125000"/>
              </a:lnSpc>
              <a:buNone/>
            </a:pPr>
            <a:r>
              <a:rPr lang="en-US" sz="1425" dirty="0">
                <a:solidFill>
                  <a:srgbClr val="3A3E45"/>
                </a:solidFill>
                <a:latin typeface="Inter" pitchFamily="34" charset="0"/>
                <a:ea typeface="Inter" pitchFamily="34" charset="-122"/>
                <a:cs typeface="Inter" pitchFamily="34" charset="-120"/>
              </a:rPr>
              <a:t>Dispatches goals + pick/place actions</a:t>
            </a:r>
            <a:endParaRPr lang="en-US" sz="1425" dirty="0"/>
          </a:p>
        </p:txBody>
      </p:sp>
      <p:sp>
        <p:nvSpPr>
          <p:cNvPr id="31" name="Text 29"/>
          <p:cNvSpPr/>
          <p:nvPr/>
        </p:nvSpPr>
        <p:spPr>
          <a:xfrm>
            <a:off x="13479438" y="4254326"/>
            <a:ext cx="2737199" cy="240953"/>
          </a:xfrm>
          <a:prstGeom prst="rect">
            <a:avLst/>
          </a:prstGeom>
          <a:noFill/>
          <a:ln/>
        </p:spPr>
        <p:txBody>
          <a:bodyPr wrap="square" lIns="25400" tIns="25400" rIns="25400" bIns="25400" rtlCol="0" anchor="t">
            <a:normAutofit/>
          </a:bodyPr>
          <a:lstStyle/>
          <a:p>
            <a:pPr algn="l" indent="0" marL="0">
              <a:lnSpc>
                <a:spcPct val="142000"/>
              </a:lnSpc>
              <a:buNone/>
            </a:pPr>
            <a:r>
              <a:rPr lang="en-US" sz="1125" dirty="0">
                <a:solidFill>
                  <a:srgbClr val="6B6F77"/>
                </a:solidFill>
                <a:latin typeface="JetBrains Mono" pitchFamily="34" charset="0"/>
                <a:ea typeface="JetBrains Mono" pitchFamily="34" charset="-122"/>
                <a:cs typeface="JetBrains Mono" pitchFamily="34" charset="-120"/>
              </a:rPr>
              <a:t>↓ /nav/goals, /nav/control_flag</a:t>
            </a:r>
            <a:endParaRPr lang="en-US" sz="1125" dirty="0"/>
          </a:p>
        </p:txBody>
      </p:sp>
      <p:sp>
        <p:nvSpPr>
          <p:cNvPr id="32" name="Text 30"/>
          <p:cNvSpPr/>
          <p:nvPr/>
        </p:nvSpPr>
        <p:spPr>
          <a:xfrm>
            <a:off x="13993788" y="4495279"/>
            <a:ext cx="1704975" cy="240953"/>
          </a:xfrm>
          <a:prstGeom prst="rect">
            <a:avLst/>
          </a:prstGeom>
          <a:noFill/>
          <a:ln/>
        </p:spPr>
        <p:txBody>
          <a:bodyPr wrap="square" lIns="25400" tIns="25400" rIns="25400" bIns="25400" rtlCol="0" anchor="t">
            <a:normAutofit/>
          </a:bodyPr>
          <a:lstStyle/>
          <a:p>
            <a:pPr algn="l" indent="0" marL="0">
              <a:lnSpc>
                <a:spcPct val="142000"/>
              </a:lnSpc>
              <a:buNone/>
            </a:pPr>
            <a:r>
              <a:rPr lang="en-US" sz="1125" dirty="0">
                <a:solidFill>
                  <a:srgbClr val="6B6F77"/>
                </a:solidFill>
                <a:latin typeface="JetBrains Mono" pitchFamily="34" charset="0"/>
                <a:ea typeface="JetBrains Mono" pitchFamily="34" charset="-122"/>
                <a:cs typeface="JetBrains Mono" pitchFamily="34" charset="-120"/>
              </a:rPr>
              <a:t>↑ /nav/arrived_flag</a:t>
            </a:r>
            <a:endParaRPr lang="en-US" sz="1125" dirty="0"/>
          </a:p>
        </p:txBody>
      </p:sp>
      <p:sp>
        <p:nvSpPr>
          <p:cNvPr id="33" name="Shape 31"/>
          <p:cNvSpPr/>
          <p:nvPr/>
        </p:nvSpPr>
        <p:spPr>
          <a:xfrm>
            <a:off x="952500" y="4971529"/>
            <a:ext cx="5054575" cy="1188244"/>
          </a:xfrm>
          <a:prstGeom prst="rect">
            <a:avLst/>
          </a:prstGeom>
          <a:solidFill>
            <a:srgbClr val="FFFFFF"/>
          </a:solidFill>
          <a:ln/>
        </p:spPr>
      </p:sp>
      <p:sp>
        <p:nvSpPr>
          <p:cNvPr id="34" name="Shape 32"/>
          <p:cNvSpPr/>
          <p:nvPr/>
        </p:nvSpPr>
        <p:spPr>
          <a:xfrm>
            <a:off x="952500" y="6145485"/>
            <a:ext cx="5054575" cy="14288"/>
          </a:xfrm>
          <a:prstGeom prst="rect">
            <a:avLst/>
          </a:prstGeom>
          <a:solidFill>
            <a:srgbClr val="15171A"/>
          </a:solidFill>
          <a:ln/>
        </p:spPr>
      </p:sp>
      <p:sp>
        <p:nvSpPr>
          <p:cNvPr id="35" name="Shape 33"/>
          <p:cNvSpPr/>
          <p:nvPr/>
        </p:nvSpPr>
        <p:spPr>
          <a:xfrm>
            <a:off x="952500" y="4971529"/>
            <a:ext cx="5054575" cy="38100"/>
          </a:xfrm>
          <a:prstGeom prst="rect">
            <a:avLst/>
          </a:prstGeom>
          <a:solidFill>
            <a:srgbClr val="2A5D7A"/>
          </a:solidFill>
          <a:ln/>
        </p:spPr>
      </p:sp>
      <p:sp>
        <p:nvSpPr>
          <p:cNvPr id="36" name="Shape 34"/>
          <p:cNvSpPr/>
          <p:nvPr/>
        </p:nvSpPr>
        <p:spPr>
          <a:xfrm>
            <a:off x="952500" y="4971529"/>
            <a:ext cx="14288" cy="1188244"/>
          </a:xfrm>
          <a:prstGeom prst="rect">
            <a:avLst/>
          </a:prstGeom>
          <a:solidFill>
            <a:srgbClr val="15171A"/>
          </a:solidFill>
          <a:ln/>
        </p:spPr>
      </p:sp>
      <p:sp>
        <p:nvSpPr>
          <p:cNvPr id="37" name="Shape 35"/>
          <p:cNvSpPr/>
          <p:nvPr/>
        </p:nvSpPr>
        <p:spPr>
          <a:xfrm>
            <a:off x="5992788" y="4971529"/>
            <a:ext cx="14288" cy="1188244"/>
          </a:xfrm>
          <a:prstGeom prst="rect">
            <a:avLst/>
          </a:prstGeom>
          <a:solidFill>
            <a:srgbClr val="15171A"/>
          </a:solidFill>
          <a:ln/>
        </p:spPr>
      </p:sp>
      <p:sp>
        <p:nvSpPr>
          <p:cNvPr id="38" name="Text 36"/>
          <p:cNvSpPr/>
          <p:nvPr/>
        </p:nvSpPr>
        <p:spPr>
          <a:xfrm>
            <a:off x="1138238" y="5162029"/>
            <a:ext cx="4823593"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5171A"/>
                </a:solidFill>
                <a:latin typeface="Inter" pitchFamily="34" charset="0"/>
                <a:ea typeface="Inter" pitchFamily="34" charset="-122"/>
                <a:cs typeface="Inter" pitchFamily="34" charset="-120"/>
              </a:rPr>
              <a:t>Perception</a:t>
            </a:r>
            <a:endParaRPr lang="en-US" sz="1650" dirty="0"/>
          </a:p>
        </p:txBody>
      </p:sp>
      <p:sp>
        <p:nvSpPr>
          <p:cNvPr id="39" name="Text 37"/>
          <p:cNvSpPr/>
          <p:nvPr/>
        </p:nvSpPr>
        <p:spPr>
          <a:xfrm>
            <a:off x="1138238" y="5481117"/>
            <a:ext cx="4823593" cy="228600"/>
          </a:xfrm>
          <a:prstGeom prst="rect">
            <a:avLst/>
          </a:prstGeom>
          <a:noFill/>
          <a:ln/>
        </p:spPr>
        <p:txBody>
          <a:bodyPr wrap="square" lIns="25400" tIns="25400" rIns="25400" bIns="25400" rtlCol="0" anchor="t">
            <a:normAutofit/>
          </a:bodyPr>
          <a:lstStyle/>
          <a:p>
            <a:pPr algn="l" indent="0" marL="0">
              <a:lnSpc>
                <a:spcPct val="125000"/>
              </a:lnSpc>
              <a:buNone/>
            </a:pPr>
            <a:r>
              <a:rPr lang="en-US" sz="1200" dirty="0">
                <a:solidFill>
                  <a:srgbClr val="6B6F77"/>
                </a:solidFill>
                <a:latin typeface="JetBrains Mono" pitchFamily="34" charset="0"/>
                <a:ea typeface="JetBrains Mono" pitchFamily="34" charset="-122"/>
                <a:cs typeface="JetBrains Mono" pitchFamily="34" charset="-120"/>
              </a:rPr>
              <a:t>YOLOE · D435i · D405</a:t>
            </a:r>
            <a:endParaRPr lang="en-US" sz="1200" dirty="0"/>
          </a:p>
        </p:txBody>
      </p:sp>
      <p:sp>
        <p:nvSpPr>
          <p:cNvPr id="40" name="Text 38"/>
          <p:cNvSpPr/>
          <p:nvPr/>
        </p:nvSpPr>
        <p:spPr>
          <a:xfrm>
            <a:off x="1138238" y="5766867"/>
            <a:ext cx="4823593" cy="264319"/>
          </a:xfrm>
          <a:prstGeom prst="rect">
            <a:avLst/>
          </a:prstGeom>
          <a:noFill/>
          <a:ln/>
        </p:spPr>
        <p:txBody>
          <a:bodyPr wrap="square" lIns="25400" tIns="25400" rIns="25400" bIns="25400" rtlCol="0" anchor="t">
            <a:normAutofit/>
          </a:bodyPr>
          <a:lstStyle/>
          <a:p>
            <a:pPr algn="l" indent="0" marL="0">
              <a:lnSpc>
                <a:spcPct val="125000"/>
              </a:lnSpc>
              <a:buNone/>
            </a:pPr>
            <a:r>
              <a:rPr lang="en-US" sz="1425" dirty="0">
                <a:solidFill>
                  <a:srgbClr val="3A3E45"/>
                </a:solidFill>
                <a:latin typeface="Inter" pitchFamily="34" charset="0"/>
                <a:ea typeface="Inter" pitchFamily="34" charset="-122"/>
                <a:cs typeface="Inter" pitchFamily="34" charset="-120"/>
              </a:rPr>
              <a:t>/detector/objects (Detection3DArray)</a:t>
            </a:r>
            <a:endParaRPr lang="en-US" sz="1425" dirty="0"/>
          </a:p>
        </p:txBody>
      </p:sp>
      <p:sp>
        <p:nvSpPr>
          <p:cNvPr id="41" name="Text 39"/>
          <p:cNvSpPr/>
          <p:nvPr/>
        </p:nvSpPr>
        <p:spPr>
          <a:xfrm>
            <a:off x="6083275" y="5464225"/>
            <a:ext cx="457200" cy="240953"/>
          </a:xfrm>
          <a:prstGeom prst="rect">
            <a:avLst/>
          </a:prstGeom>
          <a:noFill/>
          <a:ln/>
        </p:spPr>
        <p:txBody>
          <a:bodyPr wrap="square" lIns="25400" tIns="25400" rIns="25400" bIns="25400" rtlCol="0" anchor="ctr">
            <a:normAutofit/>
          </a:bodyPr>
          <a:lstStyle/>
          <a:p>
            <a:pPr algn="ctr" indent="0" marL="0">
              <a:lnSpc>
                <a:spcPct val="142000"/>
              </a:lnSpc>
              <a:buNone/>
            </a:pPr>
            <a:r>
              <a:rPr lang="en-US" sz="1125" dirty="0">
                <a:solidFill>
                  <a:srgbClr val="15171A"/>
                </a:solidFill>
                <a:latin typeface="JetBrains Mono" pitchFamily="34" charset="0"/>
                <a:ea typeface="JetBrains Mono" pitchFamily="34" charset="-122"/>
                <a:cs typeface="JetBrains Mono" pitchFamily="34" charset="-120"/>
              </a:rPr>
              <a:t>→</a:t>
            </a:r>
            <a:endParaRPr lang="en-US" sz="1125" dirty="0"/>
          </a:p>
        </p:txBody>
      </p:sp>
      <p:sp>
        <p:nvSpPr>
          <p:cNvPr id="42" name="Shape 40"/>
          <p:cNvSpPr/>
          <p:nvPr/>
        </p:nvSpPr>
        <p:spPr>
          <a:xfrm>
            <a:off x="6616675" y="4971529"/>
            <a:ext cx="5054575" cy="1188244"/>
          </a:xfrm>
          <a:prstGeom prst="rect">
            <a:avLst/>
          </a:prstGeom>
          <a:solidFill>
            <a:srgbClr val="FFFFFF"/>
          </a:solidFill>
          <a:ln/>
        </p:spPr>
      </p:sp>
      <p:sp>
        <p:nvSpPr>
          <p:cNvPr id="43" name="Shape 41"/>
          <p:cNvSpPr/>
          <p:nvPr/>
        </p:nvSpPr>
        <p:spPr>
          <a:xfrm>
            <a:off x="6616675" y="6145485"/>
            <a:ext cx="5054575" cy="14288"/>
          </a:xfrm>
          <a:prstGeom prst="rect">
            <a:avLst/>
          </a:prstGeom>
          <a:solidFill>
            <a:srgbClr val="15171A"/>
          </a:solidFill>
          <a:ln/>
        </p:spPr>
      </p:sp>
      <p:sp>
        <p:nvSpPr>
          <p:cNvPr id="44" name="Shape 42"/>
          <p:cNvSpPr/>
          <p:nvPr/>
        </p:nvSpPr>
        <p:spPr>
          <a:xfrm>
            <a:off x="6616675" y="4971529"/>
            <a:ext cx="5054575" cy="38100"/>
          </a:xfrm>
          <a:prstGeom prst="rect">
            <a:avLst/>
          </a:prstGeom>
          <a:solidFill>
            <a:srgbClr val="C67A2F"/>
          </a:solidFill>
          <a:ln/>
        </p:spPr>
      </p:sp>
      <p:sp>
        <p:nvSpPr>
          <p:cNvPr id="45" name="Shape 43"/>
          <p:cNvSpPr/>
          <p:nvPr/>
        </p:nvSpPr>
        <p:spPr>
          <a:xfrm>
            <a:off x="6616675" y="4971529"/>
            <a:ext cx="14288" cy="1188244"/>
          </a:xfrm>
          <a:prstGeom prst="rect">
            <a:avLst/>
          </a:prstGeom>
          <a:solidFill>
            <a:srgbClr val="15171A"/>
          </a:solidFill>
          <a:ln/>
        </p:spPr>
      </p:sp>
      <p:sp>
        <p:nvSpPr>
          <p:cNvPr id="46" name="Shape 44"/>
          <p:cNvSpPr/>
          <p:nvPr/>
        </p:nvSpPr>
        <p:spPr>
          <a:xfrm>
            <a:off x="11656963" y="4971529"/>
            <a:ext cx="14288" cy="1188244"/>
          </a:xfrm>
          <a:prstGeom prst="rect">
            <a:avLst/>
          </a:prstGeom>
          <a:solidFill>
            <a:srgbClr val="15171A"/>
          </a:solidFill>
          <a:ln/>
        </p:spPr>
      </p:sp>
      <p:sp>
        <p:nvSpPr>
          <p:cNvPr id="47" name="Text 45"/>
          <p:cNvSpPr/>
          <p:nvPr/>
        </p:nvSpPr>
        <p:spPr>
          <a:xfrm>
            <a:off x="6802413" y="5162029"/>
            <a:ext cx="4823593"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5171A"/>
                </a:solidFill>
                <a:latin typeface="Inter" pitchFamily="34" charset="0"/>
                <a:ea typeface="Inter" pitchFamily="34" charset="-122"/>
                <a:cs typeface="Inter" pitchFamily="34" charset="-120"/>
              </a:rPr>
              <a:t>manipulation_node</a:t>
            </a:r>
            <a:endParaRPr lang="en-US" sz="1650" dirty="0"/>
          </a:p>
        </p:txBody>
      </p:sp>
      <p:sp>
        <p:nvSpPr>
          <p:cNvPr id="48" name="Text 46"/>
          <p:cNvSpPr/>
          <p:nvPr/>
        </p:nvSpPr>
        <p:spPr>
          <a:xfrm>
            <a:off x="6802413" y="5481117"/>
            <a:ext cx="4823593" cy="228600"/>
          </a:xfrm>
          <a:prstGeom prst="rect">
            <a:avLst/>
          </a:prstGeom>
          <a:noFill/>
          <a:ln/>
        </p:spPr>
        <p:txBody>
          <a:bodyPr wrap="square" lIns="25400" tIns="25400" rIns="25400" bIns="25400" rtlCol="0" anchor="t">
            <a:normAutofit/>
          </a:bodyPr>
          <a:lstStyle/>
          <a:p>
            <a:pPr algn="l" indent="0" marL="0">
              <a:lnSpc>
                <a:spcPct val="125000"/>
              </a:lnSpc>
              <a:buNone/>
            </a:pPr>
            <a:r>
              <a:rPr lang="en-US" sz="1200" dirty="0">
                <a:solidFill>
                  <a:srgbClr val="6B6F77"/>
                </a:solidFill>
                <a:latin typeface="JetBrains Mono" pitchFamily="34" charset="0"/>
                <a:ea typeface="JetBrains Mono" pitchFamily="34" charset="-122"/>
                <a:cs typeface="JetBrains Mono" pitchFamily="34" charset="-120"/>
              </a:rPr>
              <a:t>two-stage visual grasp</a:t>
            </a:r>
            <a:endParaRPr lang="en-US" sz="1200" dirty="0"/>
          </a:p>
        </p:txBody>
      </p:sp>
      <p:sp>
        <p:nvSpPr>
          <p:cNvPr id="49" name="Text 47"/>
          <p:cNvSpPr/>
          <p:nvPr/>
        </p:nvSpPr>
        <p:spPr>
          <a:xfrm>
            <a:off x="6802413" y="5766867"/>
            <a:ext cx="4823593" cy="264319"/>
          </a:xfrm>
          <a:prstGeom prst="rect">
            <a:avLst/>
          </a:prstGeom>
          <a:noFill/>
          <a:ln/>
        </p:spPr>
        <p:txBody>
          <a:bodyPr wrap="square" lIns="25400" tIns="25400" rIns="25400" bIns="25400" rtlCol="0" anchor="t">
            <a:normAutofit/>
          </a:bodyPr>
          <a:lstStyle/>
          <a:p>
            <a:pPr algn="l" indent="0" marL="0">
              <a:lnSpc>
                <a:spcPct val="125000"/>
              </a:lnSpc>
              <a:buNone/>
            </a:pPr>
            <a:r>
              <a:rPr lang="en-US" sz="1425" dirty="0">
                <a:solidFill>
                  <a:srgbClr val="3A3E45"/>
                </a:solidFill>
                <a:latin typeface="Inter" pitchFamily="34" charset="0"/>
                <a:ea typeface="Inter" pitchFamily="34" charset="-122"/>
                <a:cs typeface="Inter" pitchFamily="34" charset="-120"/>
              </a:rPr>
              <a:t>coarse (head) → fine (gripper)</a:t>
            </a:r>
            <a:endParaRPr lang="en-US" sz="1425" dirty="0"/>
          </a:p>
        </p:txBody>
      </p:sp>
      <p:sp>
        <p:nvSpPr>
          <p:cNvPr id="50" name="Text 48"/>
          <p:cNvSpPr/>
          <p:nvPr/>
        </p:nvSpPr>
        <p:spPr>
          <a:xfrm>
            <a:off x="11747450" y="5464225"/>
            <a:ext cx="457200" cy="240953"/>
          </a:xfrm>
          <a:prstGeom prst="rect">
            <a:avLst/>
          </a:prstGeom>
          <a:noFill/>
          <a:ln/>
        </p:spPr>
        <p:txBody>
          <a:bodyPr wrap="square" lIns="25400" tIns="25400" rIns="25400" bIns="25400" rtlCol="0" anchor="ctr">
            <a:normAutofit/>
          </a:bodyPr>
          <a:lstStyle/>
          <a:p>
            <a:pPr algn="ctr" indent="0" marL="0">
              <a:lnSpc>
                <a:spcPct val="142000"/>
              </a:lnSpc>
              <a:buNone/>
            </a:pPr>
            <a:r>
              <a:rPr lang="en-US" sz="1125" dirty="0">
                <a:solidFill>
                  <a:srgbClr val="15171A"/>
                </a:solidFill>
                <a:latin typeface="JetBrains Mono" pitchFamily="34" charset="0"/>
                <a:ea typeface="JetBrains Mono" pitchFamily="34" charset="-122"/>
                <a:cs typeface="JetBrains Mono" pitchFamily="34" charset="-120"/>
              </a:rPr>
              <a:t>←</a:t>
            </a:r>
            <a:endParaRPr lang="en-US" sz="1125" dirty="0"/>
          </a:p>
        </p:txBody>
      </p:sp>
      <p:sp>
        <p:nvSpPr>
          <p:cNvPr id="51" name="Shape 49"/>
          <p:cNvSpPr/>
          <p:nvPr/>
        </p:nvSpPr>
        <p:spPr>
          <a:xfrm>
            <a:off x="12280850" y="4971529"/>
            <a:ext cx="5054650" cy="1188244"/>
          </a:xfrm>
          <a:prstGeom prst="rect">
            <a:avLst/>
          </a:prstGeom>
          <a:solidFill>
            <a:srgbClr val="FFFFFF"/>
          </a:solidFill>
          <a:ln/>
        </p:spPr>
      </p:sp>
      <p:sp>
        <p:nvSpPr>
          <p:cNvPr id="52" name="Shape 50"/>
          <p:cNvSpPr/>
          <p:nvPr/>
        </p:nvSpPr>
        <p:spPr>
          <a:xfrm>
            <a:off x="12280850" y="6145485"/>
            <a:ext cx="5054650" cy="14288"/>
          </a:xfrm>
          <a:prstGeom prst="rect">
            <a:avLst/>
          </a:prstGeom>
          <a:solidFill>
            <a:srgbClr val="15171A"/>
          </a:solidFill>
          <a:ln/>
        </p:spPr>
      </p:sp>
      <p:sp>
        <p:nvSpPr>
          <p:cNvPr id="53" name="Shape 51"/>
          <p:cNvSpPr/>
          <p:nvPr/>
        </p:nvSpPr>
        <p:spPr>
          <a:xfrm>
            <a:off x="12280850" y="4971529"/>
            <a:ext cx="5054650" cy="38100"/>
          </a:xfrm>
          <a:prstGeom prst="rect">
            <a:avLst/>
          </a:prstGeom>
          <a:solidFill>
            <a:srgbClr val="2A5D7A"/>
          </a:solidFill>
          <a:ln/>
        </p:spPr>
      </p:sp>
      <p:sp>
        <p:nvSpPr>
          <p:cNvPr id="54" name="Shape 52"/>
          <p:cNvSpPr/>
          <p:nvPr/>
        </p:nvSpPr>
        <p:spPr>
          <a:xfrm>
            <a:off x="12280850" y="4971529"/>
            <a:ext cx="14288" cy="1188244"/>
          </a:xfrm>
          <a:prstGeom prst="rect">
            <a:avLst/>
          </a:prstGeom>
          <a:solidFill>
            <a:srgbClr val="15171A"/>
          </a:solidFill>
          <a:ln/>
        </p:spPr>
      </p:sp>
      <p:sp>
        <p:nvSpPr>
          <p:cNvPr id="55" name="Shape 53"/>
          <p:cNvSpPr/>
          <p:nvPr/>
        </p:nvSpPr>
        <p:spPr>
          <a:xfrm>
            <a:off x="17321213" y="4971529"/>
            <a:ext cx="14288" cy="1188244"/>
          </a:xfrm>
          <a:prstGeom prst="rect">
            <a:avLst/>
          </a:prstGeom>
          <a:solidFill>
            <a:srgbClr val="15171A"/>
          </a:solidFill>
          <a:ln/>
        </p:spPr>
      </p:sp>
      <p:sp>
        <p:nvSpPr>
          <p:cNvPr id="56" name="Text 54"/>
          <p:cNvSpPr/>
          <p:nvPr/>
        </p:nvSpPr>
        <p:spPr>
          <a:xfrm>
            <a:off x="12466588" y="5162029"/>
            <a:ext cx="4823670"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5171A"/>
                </a:solidFill>
                <a:latin typeface="Inter" pitchFamily="34" charset="0"/>
                <a:ea typeface="Inter" pitchFamily="34" charset="-122"/>
                <a:cs typeface="Inter" pitchFamily="34" charset="-120"/>
              </a:rPr>
              <a:t>navigation_node</a:t>
            </a:r>
            <a:endParaRPr lang="en-US" sz="1650" dirty="0"/>
          </a:p>
        </p:txBody>
      </p:sp>
      <p:sp>
        <p:nvSpPr>
          <p:cNvPr id="57" name="Text 55"/>
          <p:cNvSpPr/>
          <p:nvPr/>
        </p:nvSpPr>
        <p:spPr>
          <a:xfrm>
            <a:off x="12466588" y="5481117"/>
            <a:ext cx="4823670" cy="228600"/>
          </a:xfrm>
          <a:prstGeom prst="rect">
            <a:avLst/>
          </a:prstGeom>
          <a:noFill/>
          <a:ln/>
        </p:spPr>
        <p:txBody>
          <a:bodyPr wrap="square" lIns="25400" tIns="25400" rIns="25400" bIns="25400" rtlCol="0" anchor="t">
            <a:normAutofit/>
          </a:bodyPr>
          <a:lstStyle/>
          <a:p>
            <a:pPr algn="l" indent="0" marL="0">
              <a:lnSpc>
                <a:spcPct val="125000"/>
              </a:lnSpc>
              <a:buNone/>
            </a:pPr>
            <a:r>
              <a:rPr lang="en-US" sz="1200" dirty="0">
                <a:solidFill>
                  <a:srgbClr val="6B6F77"/>
                </a:solidFill>
                <a:latin typeface="JetBrains Mono" pitchFamily="34" charset="0"/>
                <a:ea typeface="JetBrains Mono" pitchFamily="34" charset="-122"/>
                <a:cs typeface="JetBrains Mono" pitchFamily="34" charset="-120"/>
              </a:rPr>
              <a:t>stretch_nav2 · Nav2 · AMCL</a:t>
            </a:r>
            <a:endParaRPr lang="en-US" sz="1200" dirty="0"/>
          </a:p>
        </p:txBody>
      </p:sp>
      <p:sp>
        <p:nvSpPr>
          <p:cNvPr id="58" name="Text 56"/>
          <p:cNvSpPr/>
          <p:nvPr/>
        </p:nvSpPr>
        <p:spPr>
          <a:xfrm>
            <a:off x="12466588" y="5766867"/>
            <a:ext cx="4823670" cy="264319"/>
          </a:xfrm>
          <a:prstGeom prst="rect">
            <a:avLst/>
          </a:prstGeom>
          <a:noFill/>
          <a:ln/>
        </p:spPr>
        <p:txBody>
          <a:bodyPr wrap="square" lIns="25400" tIns="25400" rIns="25400" bIns="25400" rtlCol="0" anchor="t">
            <a:normAutofit/>
          </a:bodyPr>
          <a:lstStyle/>
          <a:p>
            <a:pPr algn="l" indent="0" marL="0">
              <a:lnSpc>
                <a:spcPct val="125000"/>
              </a:lnSpc>
              <a:buNone/>
            </a:pPr>
            <a:r>
              <a:rPr lang="en-US" sz="1425" dirty="0">
                <a:solidFill>
                  <a:srgbClr val="3A3E45"/>
                </a:solidFill>
                <a:latin typeface="Inter" pitchFamily="34" charset="0"/>
                <a:ea typeface="Inter" pitchFamily="34" charset="-122"/>
                <a:cs typeface="Inter" pitchFamily="34" charset="-120"/>
              </a:rPr>
              <a:t>Cancels Nav2 at 1 m · hands off</a:t>
            </a:r>
            <a:endParaRPr lang="en-US" sz="1425" dirty="0"/>
          </a:p>
        </p:txBody>
      </p:sp>
      <p:sp>
        <p:nvSpPr>
          <p:cNvPr id="59" name="Shape 57"/>
          <p:cNvSpPr/>
          <p:nvPr/>
        </p:nvSpPr>
        <p:spPr>
          <a:xfrm>
            <a:off x="952500" y="6578873"/>
            <a:ext cx="16383000" cy="19050"/>
          </a:xfrm>
          <a:prstGeom prst="rect">
            <a:avLst/>
          </a:prstGeom>
          <a:solidFill>
            <a:srgbClr val="15171A">
              <a:alpha val="22000"/>
            </a:srgbClr>
          </a:solidFill>
          <a:ln/>
        </p:spPr>
      </p:sp>
      <p:sp>
        <p:nvSpPr>
          <p:cNvPr id="60" name="Shape 58"/>
          <p:cNvSpPr/>
          <p:nvPr/>
        </p:nvSpPr>
        <p:spPr>
          <a:xfrm>
            <a:off x="952500" y="6807473"/>
            <a:ext cx="1828874" cy="376758"/>
          </a:xfrm>
          <a:prstGeom prst="roundRect">
            <a:avLst>
              <a:gd name="adj" fmla="val 5056"/>
            </a:avLst>
          </a:prstGeom>
          <a:solidFill>
            <a:srgbClr val="ECE8DE"/>
          </a:solidFill>
          <a:ln w="9525">
            <a:solidFill>
              <a:srgbClr val="D8D4CB"/>
            </a:solidFill>
            <a:prstDash val="solid"/>
          </a:ln>
        </p:spPr>
      </p:sp>
      <p:sp>
        <p:nvSpPr>
          <p:cNvPr id="61" name="Text 59"/>
          <p:cNvSpPr/>
          <p:nvPr/>
        </p:nvSpPr>
        <p:spPr>
          <a:xfrm>
            <a:off x="1095375" y="6874148"/>
            <a:ext cx="1619324"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3A3E45"/>
                </a:solidFill>
                <a:latin typeface="JetBrains Mono" pitchFamily="34" charset="0"/>
                <a:ea typeface="JetBrains Mono" pitchFamily="34" charset="-122"/>
                <a:cs typeface="JetBrains Mono" pitchFamily="34" charset="-120"/>
              </a:rPr>
              <a:t>std_msgs/String</a:t>
            </a:r>
            <a:endParaRPr lang="en-US" sz="1350" dirty="0"/>
          </a:p>
        </p:txBody>
      </p:sp>
      <p:sp>
        <p:nvSpPr>
          <p:cNvPr id="62" name="Shape 60"/>
          <p:cNvSpPr/>
          <p:nvPr/>
        </p:nvSpPr>
        <p:spPr>
          <a:xfrm>
            <a:off x="3029024" y="6807473"/>
            <a:ext cx="2651820" cy="376758"/>
          </a:xfrm>
          <a:prstGeom prst="roundRect">
            <a:avLst>
              <a:gd name="adj" fmla="val 5056"/>
            </a:avLst>
          </a:prstGeom>
          <a:solidFill>
            <a:srgbClr val="ECE8DE"/>
          </a:solidFill>
          <a:ln w="9525">
            <a:solidFill>
              <a:srgbClr val="D8D4CB"/>
            </a:solidFill>
            <a:prstDash val="solid"/>
          </a:ln>
        </p:spPr>
      </p:sp>
      <p:sp>
        <p:nvSpPr>
          <p:cNvPr id="63" name="Text 61"/>
          <p:cNvSpPr/>
          <p:nvPr/>
        </p:nvSpPr>
        <p:spPr>
          <a:xfrm>
            <a:off x="3171899" y="6874148"/>
            <a:ext cx="2445624"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3A3E45"/>
                </a:solidFill>
                <a:latin typeface="JetBrains Mono" pitchFamily="34" charset="0"/>
                <a:ea typeface="JetBrains Mono" pitchFamily="34" charset="-122"/>
                <a:cs typeface="JetBrains Mono" pitchFamily="34" charset="-120"/>
              </a:rPr>
              <a:t>geometry_msgs/PoseArray</a:t>
            </a:r>
            <a:endParaRPr lang="en-US" sz="1350" dirty="0"/>
          </a:p>
        </p:txBody>
      </p:sp>
      <p:sp>
        <p:nvSpPr>
          <p:cNvPr id="64" name="Shape 62"/>
          <p:cNvSpPr/>
          <p:nvPr/>
        </p:nvSpPr>
        <p:spPr>
          <a:xfrm>
            <a:off x="5928494" y="6807473"/>
            <a:ext cx="3166170" cy="376758"/>
          </a:xfrm>
          <a:prstGeom prst="roundRect">
            <a:avLst>
              <a:gd name="adj" fmla="val 5056"/>
            </a:avLst>
          </a:prstGeom>
          <a:solidFill>
            <a:srgbClr val="ECE8DE"/>
          </a:solidFill>
          <a:ln w="9525">
            <a:solidFill>
              <a:srgbClr val="D8D4CB"/>
            </a:solidFill>
            <a:prstDash val="solid"/>
          </a:ln>
        </p:spPr>
      </p:sp>
      <p:sp>
        <p:nvSpPr>
          <p:cNvPr id="65" name="Text 63"/>
          <p:cNvSpPr/>
          <p:nvPr/>
        </p:nvSpPr>
        <p:spPr>
          <a:xfrm>
            <a:off x="6071369" y="6874148"/>
            <a:ext cx="2975405"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3A3E45"/>
                </a:solidFill>
                <a:latin typeface="JetBrains Mono" pitchFamily="34" charset="0"/>
                <a:ea typeface="JetBrains Mono" pitchFamily="34" charset="-122"/>
                <a:cs typeface="JetBrains Mono" pitchFamily="34" charset="-120"/>
              </a:rPr>
              <a:t>vision_msgs/Detection3DArray</a:t>
            </a:r>
            <a:endParaRPr lang="en-US" sz="1350" dirty="0"/>
          </a:p>
        </p:txBody>
      </p:sp>
      <p:sp>
        <p:nvSpPr>
          <p:cNvPr id="66" name="Shape 64"/>
          <p:cNvSpPr/>
          <p:nvPr/>
        </p:nvSpPr>
        <p:spPr>
          <a:xfrm>
            <a:off x="9342313" y="6807473"/>
            <a:ext cx="3783360" cy="376758"/>
          </a:xfrm>
          <a:prstGeom prst="roundRect">
            <a:avLst>
              <a:gd name="adj" fmla="val 5056"/>
            </a:avLst>
          </a:prstGeom>
          <a:solidFill>
            <a:srgbClr val="ECE8DE"/>
          </a:solidFill>
          <a:ln w="9525">
            <a:solidFill>
              <a:srgbClr val="D8D4CB"/>
            </a:solidFill>
            <a:prstDash val="solid"/>
          </a:ln>
        </p:spPr>
      </p:sp>
      <p:sp>
        <p:nvSpPr>
          <p:cNvPr id="67" name="Text 65"/>
          <p:cNvSpPr/>
          <p:nvPr/>
        </p:nvSpPr>
        <p:spPr>
          <a:xfrm>
            <a:off x="9485188" y="6874148"/>
            <a:ext cx="3611111"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3A3E45"/>
                </a:solidFill>
                <a:latin typeface="JetBrains Mono" pitchFamily="34" charset="0"/>
                <a:ea typeface="JetBrains Mono" pitchFamily="34" charset="-122"/>
                <a:cs typeface="JetBrains Mono" pitchFamily="34" charset="-120"/>
              </a:rPr>
              <a:t>control_msgs/FollowJointTrajectory</a:t>
            </a:r>
            <a:endParaRPr lang="en-US" sz="1350" dirty="0"/>
          </a:p>
        </p:txBody>
      </p:sp>
      <p:sp>
        <p:nvSpPr>
          <p:cNvPr id="68" name="Shape 66"/>
          <p:cNvSpPr/>
          <p:nvPr/>
        </p:nvSpPr>
        <p:spPr>
          <a:xfrm>
            <a:off x="13373323" y="6807473"/>
            <a:ext cx="1931715" cy="376758"/>
          </a:xfrm>
          <a:prstGeom prst="roundRect">
            <a:avLst>
              <a:gd name="adj" fmla="val 5056"/>
            </a:avLst>
          </a:prstGeom>
          <a:solidFill>
            <a:srgbClr val="ECE8DE"/>
          </a:solidFill>
          <a:ln w="9525">
            <a:solidFill>
              <a:srgbClr val="D8D4CB"/>
            </a:solidFill>
            <a:prstDash val="solid"/>
          </a:ln>
        </p:spPr>
      </p:sp>
      <p:sp>
        <p:nvSpPr>
          <p:cNvPr id="69" name="Text 67"/>
          <p:cNvSpPr/>
          <p:nvPr/>
        </p:nvSpPr>
        <p:spPr>
          <a:xfrm>
            <a:off x="13516198" y="6874148"/>
            <a:ext cx="1722165"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3A3E45"/>
                </a:solidFill>
                <a:latin typeface="JetBrains Mono" pitchFamily="34" charset="0"/>
                <a:ea typeface="JetBrains Mono" pitchFamily="34" charset="-122"/>
                <a:cs typeface="JetBrains Mono" pitchFamily="34" charset="-120"/>
              </a:rPr>
              <a:t>std_srvs/Trigger</a:t>
            </a:r>
            <a:endParaRPr lang="en-US" sz="1350" dirty="0"/>
          </a:p>
        </p:txBody>
      </p:sp>
      <p:sp>
        <p:nvSpPr>
          <p:cNvPr id="70" name="Text 68"/>
          <p:cNvSpPr/>
          <p:nvPr/>
        </p:nvSpPr>
        <p:spPr>
          <a:xfrm>
            <a:off x="952500" y="9624492"/>
            <a:ext cx="363258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16-762 · STRETCH REARRANGEMENT</a:t>
            </a:r>
            <a:endParaRPr lang="en-US" sz="1350" dirty="0"/>
          </a:p>
        </p:txBody>
      </p:sp>
      <p:sp>
        <p:nvSpPr>
          <p:cNvPr id="71" name="Text 69"/>
          <p:cNvSpPr/>
          <p:nvPr/>
        </p:nvSpPr>
        <p:spPr>
          <a:xfrm>
            <a:off x="17117318" y="9624492"/>
            <a:ext cx="294382"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05</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8DA"/>
        </a:solidFill>
      </p:bgPr>
    </p:bg>
    <p:spTree>
      <p:nvGrpSpPr>
        <p:cNvPr id="1" name=""/>
        <p:cNvGrpSpPr/>
        <p:nvPr/>
      </p:nvGrpSpPr>
      <p:grpSpPr>
        <a:xfrm>
          <a:off x="0" y="0"/>
          <a:ext cx="0" cy="0"/>
          <a:chOff x="0" y="0"/>
          <a:chExt cx="0" cy="0"/>
        </a:xfrm>
      </p:grpSpPr>
      <p:sp>
        <p:nvSpPr>
          <p:cNvPr id="2" name="Text 0"/>
          <p:cNvSpPr/>
          <p:nvPr/>
        </p:nvSpPr>
        <p:spPr>
          <a:xfrm>
            <a:off x="952500" y="419100"/>
            <a:ext cx="3129246"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STAGE 1 — MAP &amp; SNAPSHOT</a:t>
            </a:r>
            <a:endParaRPr lang="en-US" sz="1350" dirty="0"/>
          </a:p>
        </p:txBody>
      </p:sp>
      <p:sp>
        <p:nvSpPr>
          <p:cNvPr id="3" name="Text 1"/>
          <p:cNvSpPr/>
          <p:nvPr/>
        </p:nvSpPr>
        <p:spPr>
          <a:xfrm>
            <a:off x="16715110" y="419100"/>
            <a:ext cx="69659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06 / 12</a:t>
            </a:r>
            <a:endParaRPr lang="en-US" sz="1350" dirty="0"/>
          </a:p>
        </p:txBody>
      </p:sp>
      <p:sp>
        <p:nvSpPr>
          <p:cNvPr id="4" name="Text 2"/>
          <p:cNvSpPr/>
          <p:nvPr/>
        </p:nvSpPr>
        <p:spPr>
          <a:xfrm>
            <a:off x="952500" y="1809750"/>
            <a:ext cx="16874490" cy="335607"/>
          </a:xfrm>
          <a:prstGeom prst="rect">
            <a:avLst/>
          </a:prstGeom>
          <a:noFill/>
          <a:ln/>
        </p:spPr>
        <p:txBody>
          <a:bodyPr wrap="square" lIns="25400" tIns="25400" rIns="25400" bIns="25400" rtlCol="0" anchor="ctr">
            <a:normAutofit/>
          </a:bodyPr>
          <a:lstStyle/>
          <a:p>
            <a:pPr algn="l" indent="0" marL="0">
              <a:lnSpc>
                <a:spcPct val="142000"/>
              </a:lnSpc>
              <a:buNone/>
            </a:pPr>
            <a:r>
              <a:rPr lang="en-US" sz="1650" b="1" spc="264" kern="0" dirty="0">
                <a:solidFill>
                  <a:srgbClr val="C41230"/>
                </a:solidFill>
                <a:latin typeface="-apple-system" pitchFamily="34" charset="0"/>
                <a:ea typeface="-apple-system" pitchFamily="34" charset="-122"/>
                <a:cs typeface="-apple-system" pitchFamily="34" charset="-120"/>
              </a:rPr>
              <a:t>OFFLINE · ONE-TIME PER ROOM</a:t>
            </a:r>
            <a:endParaRPr lang="en-US" sz="1650" dirty="0"/>
          </a:p>
        </p:txBody>
      </p:sp>
      <p:sp>
        <p:nvSpPr>
          <p:cNvPr id="5" name="Text 3"/>
          <p:cNvSpPr/>
          <p:nvPr/>
        </p:nvSpPr>
        <p:spPr>
          <a:xfrm>
            <a:off x="952500" y="2373957"/>
            <a:ext cx="1687449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b="1" spc="-72" kern="0" dirty="0">
                <a:solidFill>
                  <a:srgbClr val="15171A"/>
                </a:solidFill>
                <a:latin typeface="Source Serif 4" pitchFamily="34" charset="0"/>
                <a:ea typeface="Source Serif 4" pitchFamily="34" charset="-122"/>
                <a:cs typeface="Source Serif 4" pitchFamily="34" charset="-120"/>
              </a:rPr>
              <a:t>Teleop once, remember everything.</a:t>
            </a:r>
            <a:endParaRPr lang="en-US" sz="4800" dirty="0"/>
          </a:p>
        </p:txBody>
      </p:sp>
      <p:sp>
        <p:nvSpPr>
          <p:cNvPr id="6" name="Shape 4"/>
          <p:cNvSpPr/>
          <p:nvPr/>
        </p:nvSpPr>
        <p:spPr>
          <a:xfrm>
            <a:off x="952500" y="3509293"/>
            <a:ext cx="9017496" cy="9525"/>
          </a:xfrm>
          <a:prstGeom prst="rect">
            <a:avLst/>
          </a:prstGeom>
          <a:solidFill>
            <a:srgbClr val="D8D4CB"/>
          </a:solidFill>
          <a:ln/>
        </p:spPr>
      </p:sp>
      <p:sp>
        <p:nvSpPr>
          <p:cNvPr id="7" name="Text 5"/>
          <p:cNvSpPr/>
          <p:nvPr/>
        </p:nvSpPr>
        <p:spPr>
          <a:xfrm>
            <a:off x="952500" y="3709318"/>
            <a:ext cx="457200" cy="359643"/>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T1</a:t>
            </a:r>
            <a:endParaRPr lang="en-US" sz="1500" dirty="0"/>
          </a:p>
        </p:txBody>
      </p:sp>
      <p:sp>
        <p:nvSpPr>
          <p:cNvPr id="8" name="Text 6"/>
          <p:cNvSpPr/>
          <p:nvPr/>
        </p:nvSpPr>
        <p:spPr>
          <a:xfrm>
            <a:off x="1543050" y="3652168"/>
            <a:ext cx="8679754" cy="416793"/>
          </a:xfrm>
          <a:prstGeom prst="rect">
            <a:avLst/>
          </a:prstGeom>
          <a:noFill/>
          <a:ln/>
        </p:spPr>
        <p:txBody>
          <a:bodyPr wrap="square" lIns="25400" tIns="25400" rIns="25400" bIns="25400" rtlCol="0" anchor="t">
            <a:normAutofit/>
          </a:bodyPr>
          <a:lstStyle/>
          <a:p>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SLAM + driver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via </a:t>
            </a:r>
            <a:pPr algn="l" indent="0" marL="0">
              <a:lnSpc>
                <a:spcPct val="142000"/>
              </a:lnSpc>
              <a:buNone/>
            </a:pPr>
            <a:r>
              <a:rPr lang="en-US" sz="2100" dirty="0">
                <a:solidFill>
                  <a:srgbClr val="3A3E45"/>
                </a:solidFill>
                <a:latin typeface="JetBrains Mono" pitchFamily="34" charset="0"/>
                <a:ea typeface="JetBrains Mono" pitchFamily="34" charset="-122"/>
                <a:cs typeface="JetBrains Mono" pitchFamily="34" charset="-120"/>
              </a:rPr>
              <a:t>stretch_nav2 offline_mapping</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a:t>
            </a:r>
            <a:endParaRPr lang="en-US" sz="2100" dirty="0"/>
          </a:p>
        </p:txBody>
      </p:sp>
      <p:sp>
        <p:nvSpPr>
          <p:cNvPr id="9" name="Shape 7"/>
          <p:cNvSpPr/>
          <p:nvPr/>
        </p:nvSpPr>
        <p:spPr>
          <a:xfrm>
            <a:off x="952500" y="4164211"/>
            <a:ext cx="9017496" cy="9525"/>
          </a:xfrm>
          <a:prstGeom prst="rect">
            <a:avLst/>
          </a:prstGeom>
          <a:solidFill>
            <a:srgbClr val="D8D4CB"/>
          </a:solidFill>
          <a:ln/>
        </p:spPr>
      </p:sp>
      <p:sp>
        <p:nvSpPr>
          <p:cNvPr id="10" name="Text 8"/>
          <p:cNvSpPr/>
          <p:nvPr/>
        </p:nvSpPr>
        <p:spPr>
          <a:xfrm>
            <a:off x="952500" y="4364236"/>
            <a:ext cx="457200" cy="359643"/>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T2</a:t>
            </a:r>
            <a:endParaRPr lang="en-US" sz="1500" dirty="0"/>
          </a:p>
        </p:txBody>
      </p:sp>
      <p:sp>
        <p:nvSpPr>
          <p:cNvPr id="11" name="Text 9"/>
          <p:cNvSpPr/>
          <p:nvPr/>
        </p:nvSpPr>
        <p:spPr>
          <a:xfrm>
            <a:off x="1543050" y="4307086"/>
            <a:ext cx="8679754" cy="416793"/>
          </a:xfrm>
          <a:prstGeom prst="rect">
            <a:avLst/>
          </a:prstGeom>
          <a:noFill/>
          <a:ln/>
        </p:spPr>
        <p:txBody>
          <a:bodyPr wrap="square" lIns="25400" tIns="25400" rIns="25400" bIns="25400" rtlCol="0" anchor="t">
            <a:normAutofit/>
          </a:bodyPr>
          <a:lstStyle/>
          <a:p>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D435i camera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streaming RGB-D at low resolution.</a:t>
            </a:r>
            <a:endParaRPr lang="en-US" sz="2100" dirty="0"/>
          </a:p>
        </p:txBody>
      </p:sp>
      <p:sp>
        <p:nvSpPr>
          <p:cNvPr id="12" name="Shape 10"/>
          <p:cNvSpPr/>
          <p:nvPr/>
        </p:nvSpPr>
        <p:spPr>
          <a:xfrm>
            <a:off x="952500" y="5474047"/>
            <a:ext cx="9017496" cy="9525"/>
          </a:xfrm>
          <a:prstGeom prst="rect">
            <a:avLst/>
          </a:prstGeom>
          <a:solidFill>
            <a:srgbClr val="D8D4CB"/>
          </a:solidFill>
          <a:ln/>
        </p:spPr>
      </p:sp>
      <p:sp>
        <p:nvSpPr>
          <p:cNvPr id="13" name="Shape 11"/>
          <p:cNvSpPr/>
          <p:nvPr/>
        </p:nvSpPr>
        <p:spPr>
          <a:xfrm>
            <a:off x="952500" y="4819129"/>
            <a:ext cx="9017496" cy="9525"/>
          </a:xfrm>
          <a:prstGeom prst="rect">
            <a:avLst/>
          </a:prstGeom>
          <a:solidFill>
            <a:srgbClr val="D8D4CB"/>
          </a:solidFill>
          <a:ln/>
        </p:spPr>
      </p:sp>
      <p:sp>
        <p:nvSpPr>
          <p:cNvPr id="14" name="Text 12"/>
          <p:cNvSpPr/>
          <p:nvPr/>
        </p:nvSpPr>
        <p:spPr>
          <a:xfrm>
            <a:off x="952500" y="5019154"/>
            <a:ext cx="457200" cy="359643"/>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T3</a:t>
            </a:r>
            <a:endParaRPr lang="en-US" sz="1500" dirty="0"/>
          </a:p>
        </p:txBody>
      </p:sp>
      <p:sp>
        <p:nvSpPr>
          <p:cNvPr id="15" name="Text 13"/>
          <p:cNvSpPr/>
          <p:nvPr/>
        </p:nvSpPr>
        <p:spPr>
          <a:xfrm>
            <a:off x="1543050" y="4962004"/>
            <a:ext cx="8679754" cy="416793"/>
          </a:xfrm>
          <a:prstGeom prst="rect">
            <a:avLst/>
          </a:prstGeom>
          <a:noFill/>
          <a:ln/>
        </p:spPr>
        <p:txBody>
          <a:bodyPr wrap="square" lIns="25400" tIns="25400" rIns="25400" bIns="25400" rtlCol="0" anchor="t">
            <a:normAutofit/>
          </a:bodyPr>
          <a:lstStyle/>
          <a:p>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YOLOE detector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latches each object's pose in the </a:t>
            </a:r>
            <a:pPr algn="l" indent="0" marL="0">
              <a:lnSpc>
                <a:spcPct val="142000"/>
              </a:lnSpc>
              <a:buNone/>
            </a:pPr>
            <a:r>
              <a:rPr lang="en-US" sz="2100" dirty="0">
                <a:solidFill>
                  <a:srgbClr val="3A3E45"/>
                </a:solidFill>
                <a:latin typeface="JetBrains Mono" pitchFamily="34" charset="0"/>
                <a:ea typeface="JetBrains Mono" pitchFamily="34" charset="-122"/>
                <a:cs typeface="JetBrains Mono" pitchFamily="34" charset="-120"/>
              </a:rPr>
              <a:t>map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frame.</a:t>
            </a:r>
            <a:endParaRPr lang="en-US" sz="2100" dirty="0"/>
          </a:p>
        </p:txBody>
      </p:sp>
      <p:sp>
        <p:nvSpPr>
          <p:cNvPr id="16" name="Text 14"/>
          <p:cNvSpPr/>
          <p:nvPr/>
        </p:nvSpPr>
        <p:spPr>
          <a:xfrm>
            <a:off x="952500" y="5750272"/>
            <a:ext cx="9288021" cy="384795"/>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3A3E45"/>
                </a:solidFill>
                <a:latin typeface="-apple-system" pitchFamily="34" charset="0"/>
                <a:ea typeface="-apple-system" pitchFamily="34" charset="-122"/>
                <a:cs typeface="-apple-system" pitchFamily="34" charset="-120"/>
              </a:rPr>
              <a:t>One service call freezes the scene, one command saves the map.</a:t>
            </a:r>
            <a:endParaRPr lang="en-US" sz="1950" dirty="0"/>
          </a:p>
        </p:txBody>
      </p:sp>
      <p:sp>
        <p:nvSpPr>
          <p:cNvPr id="17" name="Shape 15"/>
          <p:cNvSpPr/>
          <p:nvPr/>
        </p:nvSpPr>
        <p:spPr>
          <a:xfrm>
            <a:off x="952500" y="6287467"/>
            <a:ext cx="9017496" cy="1419225"/>
          </a:xfrm>
          <a:prstGeom prst="roundRect">
            <a:avLst>
              <a:gd name="adj" fmla="val 2685"/>
            </a:avLst>
          </a:prstGeom>
          <a:solidFill>
            <a:srgbClr val="14161A"/>
          </a:solidFill>
          <a:ln/>
        </p:spPr>
      </p:sp>
      <p:sp>
        <p:nvSpPr>
          <p:cNvPr id="18" name="Shape 16"/>
          <p:cNvSpPr/>
          <p:nvPr/>
        </p:nvSpPr>
        <p:spPr>
          <a:xfrm>
            <a:off x="952500" y="6287467"/>
            <a:ext cx="38100" cy="1419225"/>
          </a:xfrm>
          <a:prstGeom prst="rect">
            <a:avLst/>
          </a:prstGeom>
          <a:solidFill>
            <a:srgbClr val="C41230"/>
          </a:solidFill>
          <a:ln/>
        </p:spPr>
      </p:sp>
      <p:sp>
        <p:nvSpPr>
          <p:cNvPr id="19" name="Text 17"/>
          <p:cNvSpPr/>
          <p:nvPr/>
        </p:nvSpPr>
        <p:spPr>
          <a:xfrm>
            <a:off x="1295400" y="6554167"/>
            <a:ext cx="8640321" cy="923925"/>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7A8088"/>
                </a:solidFill>
                <a:latin typeface="JetBrains Mono" pitchFamily="34" charset="0"/>
                <a:ea typeface="JetBrains Mono" pitchFamily="34" charset="-122"/>
                <a:cs typeface="JetBrains Mono" pitchFamily="34" charset="-120"/>
              </a:rPr>
              <a:t># snapshot every detected object into YAML </a:t>
            </a:r>
            <a:pPr algn="l" indent="0" marL="0">
              <a:lnSpc>
                <a:spcPct val="155000"/>
              </a:lnSpc>
              <a:buNone/>
            </a:pPr>
            <a:r>
              <a:rPr lang="en-US" sz="1500" dirty="0">
                <a:solidFill>
                  <a:srgbClr val="D8D5CC"/>
                </a:solidFill>
                <a:highlight>
                  <a:srgbClr val="14161A"/>
                </a:highlight>
                <a:latin typeface="JetBrains Mono" pitchFamily="34" charset="0"/>
                <a:ea typeface="JetBrains Mono" pitchFamily="34" charset="-122"/>
                <a:cs typeface="JetBrains Mono" pitchFamily="34" charset="-120"/>
              </a:rPr>
              <a:t>ros2 service call /detector/snapshot </a:t>
            </a:r>
            <a:pPr algn="l" indent="0" marL="0">
              <a:lnSpc>
                <a:spcPct val="155000"/>
              </a:lnSpc>
              <a:buNone/>
            </a:pPr>
            <a:r>
              <a:rPr lang="en-US" sz="1500" dirty="0">
                <a:solidFill>
                  <a:srgbClr val="E8B4B8"/>
                </a:solidFill>
                <a:latin typeface="JetBrains Mono" pitchFamily="34" charset="0"/>
                <a:ea typeface="JetBrains Mono" pitchFamily="34" charset="-122"/>
                <a:cs typeface="JetBrains Mono" pitchFamily="34" charset="-120"/>
              </a:rPr>
              <a:t>std_srvs/srv/Trigger </a:t>
            </a:r>
            <a:pPr algn="l" indent="0" marL="0">
              <a:lnSpc>
                <a:spcPct val="155000"/>
              </a:lnSpc>
              <a:buNone/>
            </a:pPr>
            <a:r>
              <a:rPr lang="en-US" sz="1500" dirty="0">
                <a:solidFill>
                  <a:srgbClr val="7A8088"/>
                </a:solidFill>
                <a:latin typeface="JetBrains Mono" pitchFamily="34" charset="0"/>
                <a:ea typeface="JetBrains Mono" pitchFamily="34" charset="-122"/>
                <a:cs typeface="JetBrains Mono" pitchFamily="34" charset="-120"/>
              </a:rPr>
              <a:t># save the occupancy map </a:t>
            </a:r>
            <a:pPr algn="l" indent="0" marL="0">
              <a:lnSpc>
                <a:spcPct val="155000"/>
              </a:lnSpc>
              <a:buNone/>
            </a:pPr>
            <a:r>
              <a:rPr lang="en-US" sz="1500" dirty="0">
                <a:solidFill>
                  <a:srgbClr val="D8D5CC"/>
                </a:solidFill>
                <a:highlight>
                  <a:srgbClr val="14161A"/>
                </a:highlight>
                <a:latin typeface="JetBrains Mono" pitchFamily="34" charset="0"/>
                <a:ea typeface="JetBrains Mono" pitchFamily="34" charset="-122"/>
                <a:cs typeface="JetBrains Mono" pitchFamily="34" charset="-120"/>
              </a:rPr>
              <a:t>ros2 run nav2_map_server map_saver_cli </a:t>
            </a:r>
            <a:pPr algn="l" indent="0" marL="0">
              <a:lnSpc>
                <a:spcPct val="155000"/>
              </a:lnSpc>
              <a:buNone/>
            </a:pPr>
            <a:r>
              <a:rPr lang="en-US" sz="1500" dirty="0">
                <a:solidFill>
                  <a:srgbClr val="F2C48C"/>
                </a:solidFill>
                <a:latin typeface="JetBrains Mono" pitchFamily="34" charset="0"/>
                <a:ea typeface="JetBrains Mono" pitchFamily="34" charset="-122"/>
                <a:cs typeface="JetBrains Mono" pitchFamily="34" charset="-120"/>
              </a:rPr>
              <a:t>-f </a:t>
            </a:r>
            <a:pPr algn="l" indent="0" marL="0">
              <a:lnSpc>
                <a:spcPct val="155000"/>
              </a:lnSpc>
              <a:buNone/>
            </a:pPr>
            <a:r>
              <a:rPr lang="en-US" sz="1500" dirty="0">
                <a:solidFill>
                  <a:srgbClr val="C2D9A8"/>
                </a:solidFill>
                <a:latin typeface="JetBrains Mono" pitchFamily="34" charset="0"/>
                <a:ea typeface="JetBrains Mono" pitchFamily="34" charset="-122"/>
                <a:cs typeface="JetBrains Mono" pitchFamily="34" charset="-120"/>
              </a:rPr>
              <a:t>~/maps/myroom</a:t>
            </a:r>
            <a:endParaRPr lang="en-US" sz="1500" dirty="0"/>
          </a:p>
        </p:txBody>
      </p:sp>
      <p:sp>
        <p:nvSpPr>
          <p:cNvPr id="20" name="Shape 18"/>
          <p:cNvSpPr/>
          <p:nvPr/>
        </p:nvSpPr>
        <p:spPr>
          <a:xfrm>
            <a:off x="10655796" y="3509293"/>
            <a:ext cx="6679704" cy="5424636"/>
          </a:xfrm>
          <a:prstGeom prst="rect">
            <a:avLst/>
          </a:prstGeom>
          <a:solidFill>
            <a:srgbClr val="FFFFFF"/>
          </a:solidFill>
          <a:ln w="9525">
            <a:solidFill>
              <a:srgbClr val="D8D4CB"/>
            </a:solidFill>
            <a:prstDash val="solid"/>
          </a:ln>
        </p:spPr>
      </p:sp>
      <p:sp>
        <p:nvSpPr>
          <p:cNvPr id="21" name="Shape 19"/>
          <p:cNvSpPr/>
          <p:nvPr/>
        </p:nvSpPr>
        <p:spPr>
          <a:xfrm>
            <a:off x="10798671" y="3652168"/>
            <a:ext cx="6393954" cy="4800228"/>
          </a:xfrm>
          <a:prstGeom prst="rect">
            <a:avLst/>
          </a:prstGeom>
          <a:solidFill>
            <a:srgbClr val="FFFFFF"/>
          </a:solidFill>
          <a:ln w="9525">
            <a:solidFill>
              <a:srgbClr val="D8D4CB"/>
            </a:solidFill>
            <a:prstDash val="solid"/>
          </a:ln>
        </p:spPr>
      </p:sp>
      <p:pic>
        <p:nvPicPr>
          <p:cNvPr id="22" name="Image 0" descr="preencoded.png">    </p:cNvPr>
          <p:cNvPicPr>
            <a:picLocks noChangeAspect="1"/>
          </p:cNvPicPr>
          <p:nvPr/>
        </p:nvPicPr>
        <p:blipFill>
          <a:blip r:embed="rId1"/>
          <a:srcRect l="0" r="0" t="0" b="0"/>
          <a:stretch/>
        </p:blipFill>
        <p:spPr>
          <a:xfrm>
            <a:off x="10808196" y="3661693"/>
            <a:ext cx="6374904" cy="4781178"/>
          </a:xfrm>
          <a:prstGeom prst="rect">
            <a:avLst/>
          </a:prstGeom>
        </p:spPr>
      </p:pic>
      <p:sp>
        <p:nvSpPr>
          <p:cNvPr id="23" name="Text 20"/>
          <p:cNvSpPr/>
          <p:nvPr/>
        </p:nvSpPr>
        <p:spPr>
          <a:xfrm>
            <a:off x="10798671" y="8547646"/>
            <a:ext cx="658577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54" kern="0" dirty="0">
                <a:solidFill>
                  <a:srgbClr val="6B6F77"/>
                </a:solidFill>
                <a:latin typeface="JetBrains Mono" pitchFamily="34" charset="0"/>
                <a:ea typeface="JetBrains Mono" pitchFamily="34" charset="-122"/>
                <a:cs typeface="JetBrains Mono" pitchFamily="34" charset="-120"/>
              </a:rPr>
              <a:t>FIG 1 · myroom.pgm · Nav2 inflated costmap in RViz</a:t>
            </a:r>
            <a:endParaRPr lang="en-US" sz="1350" dirty="0"/>
          </a:p>
        </p:txBody>
      </p:sp>
      <p:sp>
        <p:nvSpPr>
          <p:cNvPr id="24" name="Shape 21"/>
          <p:cNvSpPr/>
          <p:nvPr/>
        </p:nvSpPr>
        <p:spPr>
          <a:xfrm>
            <a:off x="10655796" y="9162529"/>
            <a:ext cx="6679704" cy="1543050"/>
          </a:xfrm>
          <a:prstGeom prst="rect">
            <a:avLst/>
          </a:prstGeom>
          <a:solidFill>
            <a:srgbClr val="FFFFFF"/>
          </a:solidFill>
          <a:ln w="9525">
            <a:solidFill>
              <a:srgbClr val="D8D4CB"/>
            </a:solidFill>
            <a:prstDash val="solid"/>
          </a:ln>
        </p:spPr>
      </p:sp>
      <p:sp>
        <p:nvSpPr>
          <p:cNvPr id="25" name="Text 22"/>
          <p:cNvSpPr/>
          <p:nvPr/>
        </p:nvSpPr>
        <p:spPr>
          <a:xfrm>
            <a:off x="10874871" y="9343504"/>
            <a:ext cx="6441945" cy="1219200"/>
          </a:xfrm>
          <a:prstGeom prst="rect">
            <a:avLst/>
          </a:prstGeom>
          <a:noFill/>
          <a:ln/>
        </p:spPr>
        <p:txBody>
          <a:bodyPr wrap="square" lIns="25400" tIns="25400" rIns="25400" bIns="25400" rtlCol="0" anchor="t">
            <a:normAutofit/>
          </a:bodyPr>
          <a:lstStyle/>
          <a:p>
            <a:pPr algn="l" indent="0" marL="0">
              <a:lnSpc>
                <a:spcPct val="155000"/>
              </a:lnSpc>
              <a:buNone/>
            </a:pPr>
            <a:r>
              <a:rPr lang="en-US" sz="1500" dirty="0">
                <a:solidFill>
                  <a:srgbClr val="6B6F77"/>
                </a:solidFill>
                <a:latin typeface="JetBrains Mono" pitchFamily="34" charset="0"/>
                <a:ea typeface="JetBrains Mono" pitchFamily="34" charset="-122"/>
                <a:cs typeface="JetBrains Mono" pitchFamily="34" charset="-120"/>
              </a:rPr>
              <a:t># myroom_objects.yaml </a:t>
            </a:r>
            <a:pPr algn="l" indent="0" marL="0">
              <a:lnSpc>
                <a:spcPct val="155000"/>
              </a:lnSpc>
              <a:buNone/>
            </a:pPr>
            <a:r>
              <a:rPr lang="en-US" sz="1500" dirty="0">
                <a:solidFill>
                  <a:srgbClr val="15171A"/>
                </a:solidFill>
                <a:highlight>
                  <a:srgbClr val="FFFFFF"/>
                </a:highlight>
                <a:latin typeface="JetBrains Mono" pitchFamily="34" charset="0"/>
                <a:ea typeface="JetBrains Mono" pitchFamily="34" charset="-122"/>
                <a:cs typeface="JetBrains Mono" pitchFamily="34" charset="-120"/>
              </a:rPr>
              <a:t>orange_cup: {x: 1.82, y: 0.43, conf: 0.91} yellow_cup: {x: -0.74, y: 1.91, conf: 0.88} white_bottle: {x: 2.31, y: -1.05, conf: 0.94}</a:t>
            </a:r>
            <a:endParaRPr lang="en-US" sz="1500" dirty="0"/>
          </a:p>
        </p:txBody>
      </p:sp>
      <p:sp>
        <p:nvSpPr>
          <p:cNvPr id="26" name="Text 23"/>
          <p:cNvSpPr/>
          <p:nvPr/>
        </p:nvSpPr>
        <p:spPr>
          <a:xfrm>
            <a:off x="952500" y="9624492"/>
            <a:ext cx="363258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16-762 · STRETCH REARRANGEMENT</a:t>
            </a:r>
            <a:endParaRPr lang="en-US" sz="1350" dirty="0"/>
          </a:p>
        </p:txBody>
      </p:sp>
      <p:sp>
        <p:nvSpPr>
          <p:cNvPr id="27" name="Text 24"/>
          <p:cNvSpPr/>
          <p:nvPr/>
        </p:nvSpPr>
        <p:spPr>
          <a:xfrm>
            <a:off x="17117318" y="9624492"/>
            <a:ext cx="294382"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06</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8"/>
        </a:solidFill>
      </p:bgPr>
    </p:bg>
    <p:spTree>
      <p:nvGrpSpPr>
        <p:cNvPr id="1" name=""/>
        <p:cNvGrpSpPr/>
        <p:nvPr/>
      </p:nvGrpSpPr>
      <p:grpSpPr>
        <a:xfrm>
          <a:off x="0" y="0"/>
          <a:ext cx="0" cy="0"/>
          <a:chOff x="0" y="0"/>
          <a:chExt cx="0" cy="0"/>
        </a:xfrm>
      </p:grpSpPr>
      <p:sp>
        <p:nvSpPr>
          <p:cNvPr id="2" name="Text 0"/>
          <p:cNvSpPr/>
          <p:nvPr/>
        </p:nvSpPr>
        <p:spPr>
          <a:xfrm>
            <a:off x="952500" y="419100"/>
            <a:ext cx="3472239"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STAGE 2 — REGION ANNOTATION</a:t>
            </a:r>
            <a:endParaRPr lang="en-US" sz="1350" dirty="0"/>
          </a:p>
        </p:txBody>
      </p:sp>
      <p:sp>
        <p:nvSpPr>
          <p:cNvPr id="3" name="Text 1"/>
          <p:cNvSpPr/>
          <p:nvPr/>
        </p:nvSpPr>
        <p:spPr>
          <a:xfrm>
            <a:off x="16715110" y="419100"/>
            <a:ext cx="69659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07 / 12</a:t>
            </a:r>
            <a:endParaRPr lang="en-US" sz="1350" dirty="0"/>
          </a:p>
        </p:txBody>
      </p:sp>
      <p:sp>
        <p:nvSpPr>
          <p:cNvPr id="4" name="Text 2"/>
          <p:cNvSpPr/>
          <p:nvPr/>
        </p:nvSpPr>
        <p:spPr>
          <a:xfrm>
            <a:off x="952500" y="1809750"/>
            <a:ext cx="16874490" cy="335607"/>
          </a:xfrm>
          <a:prstGeom prst="rect">
            <a:avLst/>
          </a:prstGeom>
          <a:noFill/>
          <a:ln/>
        </p:spPr>
        <p:txBody>
          <a:bodyPr wrap="square" lIns="25400" tIns="25400" rIns="25400" bIns="25400" rtlCol="0" anchor="ctr">
            <a:normAutofit/>
          </a:bodyPr>
          <a:lstStyle/>
          <a:p>
            <a:pPr algn="l" indent="0" marL="0">
              <a:lnSpc>
                <a:spcPct val="142000"/>
              </a:lnSpc>
              <a:buNone/>
            </a:pPr>
            <a:r>
              <a:rPr lang="en-US" sz="1650" b="1" spc="264" kern="0" dirty="0">
                <a:solidFill>
                  <a:srgbClr val="C41230"/>
                </a:solidFill>
                <a:latin typeface="-apple-system" pitchFamily="34" charset="0"/>
                <a:ea typeface="-apple-system" pitchFamily="34" charset="-122"/>
                <a:cs typeface="-apple-system" pitchFamily="34" charset="-120"/>
              </a:rPr>
              <a:t>HUMAN-IN-THE-LOOP · 5 MINUTES</a:t>
            </a:r>
            <a:endParaRPr lang="en-US" sz="1650" dirty="0"/>
          </a:p>
        </p:txBody>
      </p:sp>
      <p:sp>
        <p:nvSpPr>
          <p:cNvPr id="5" name="Text 3"/>
          <p:cNvSpPr/>
          <p:nvPr/>
        </p:nvSpPr>
        <p:spPr>
          <a:xfrm>
            <a:off x="952500" y="2373957"/>
            <a:ext cx="1687449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b="1" spc="-72" kern="0" dirty="0">
                <a:solidFill>
                  <a:srgbClr val="15171A"/>
                </a:solidFill>
                <a:latin typeface="Source Serif 4" pitchFamily="34" charset="0"/>
                <a:ea typeface="Source Serif 4" pitchFamily="34" charset="-122"/>
                <a:cs typeface="Source Serif 4" pitchFamily="34" charset="-120"/>
              </a:rPr>
              <a:t>Semantic regions as CCW polygons.</a:t>
            </a:r>
            <a:endParaRPr lang="en-US" sz="4800" dirty="0"/>
          </a:p>
        </p:txBody>
      </p:sp>
      <p:sp>
        <p:nvSpPr>
          <p:cNvPr id="6" name="Text 4"/>
          <p:cNvSpPr/>
          <p:nvPr/>
        </p:nvSpPr>
        <p:spPr>
          <a:xfrm>
            <a:off x="952500" y="3509293"/>
            <a:ext cx="8044815" cy="789533"/>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3A3E45"/>
                </a:solidFill>
                <a:latin typeface="-apple-system" pitchFamily="34" charset="0"/>
                <a:ea typeface="-apple-system" pitchFamily="34" charset="-122"/>
                <a:cs typeface="-apple-system" pitchFamily="34" charset="-120"/>
              </a:rPr>
              <a:t>Each region is a polygon in the </a:t>
            </a:r>
            <a:pPr algn="l" indent="0" marL="0">
              <a:lnSpc>
                <a:spcPct val="140000"/>
              </a:lnSpc>
              <a:buNone/>
            </a:pPr>
            <a:r>
              <a:rPr lang="en-US" sz="2100" dirty="0">
                <a:solidFill>
                  <a:srgbClr val="3A3E45"/>
                </a:solidFill>
                <a:latin typeface="JetBrains Mono" pitchFamily="34" charset="0"/>
                <a:ea typeface="JetBrains Mono" pitchFamily="34" charset="-122"/>
                <a:cs typeface="JetBrains Mono" pitchFamily="34" charset="-120"/>
              </a:rPr>
              <a:t>map </a:t>
            </a:r>
            <a:pPr algn="l" indent="0" marL="0">
              <a:lnSpc>
                <a:spcPct val="140000"/>
              </a:lnSpc>
              <a:buNone/>
            </a:pPr>
            <a:r>
              <a:rPr lang="en-US" sz="2100" dirty="0">
                <a:solidFill>
                  <a:srgbClr val="3A3E45"/>
                </a:solidFill>
                <a:latin typeface="-apple-system" pitchFamily="34" charset="0"/>
                <a:ea typeface="-apple-system" pitchFamily="34" charset="-122"/>
                <a:cs typeface="-apple-system" pitchFamily="34" charset="-120"/>
              </a:rPr>
              <a:t>frame plus a </a:t>
            </a:r>
            <a:pPr algn="l" indent="0" marL="0">
              <a:lnSpc>
                <a:spcPct val="140000"/>
              </a:lnSpc>
              <a:buNone/>
            </a:pPr>
            <a:r>
              <a:rPr lang="en-US" sz="2100" b="1" dirty="0">
                <a:solidFill>
                  <a:srgbClr val="3A3E45"/>
                </a:solidFill>
                <a:latin typeface="-apple-system" pitchFamily="34" charset="0"/>
                <a:ea typeface="-apple-system" pitchFamily="34" charset="-122"/>
                <a:cs typeface="-apple-system" pitchFamily="34" charset="-120"/>
              </a:rPr>
              <a:t>place_anchor </a:t>
            </a:r>
            <a:pPr algn="l" indent="0" marL="0">
              <a:lnSpc>
                <a:spcPct val="140000"/>
              </a:lnSpc>
              <a:buNone/>
            </a:pPr>
            <a:r>
              <a:rPr lang="en-US" sz="2100" dirty="0">
                <a:solidFill>
                  <a:srgbClr val="3A3E45"/>
                </a:solidFill>
                <a:latin typeface="-apple-system" pitchFamily="34" charset="0"/>
                <a:ea typeface="-apple-system" pitchFamily="34" charset="-122"/>
                <a:cs typeface="-apple-system" pitchFamily="34" charset="-120"/>
              </a:rPr>
              <a:t>— the pose the robot drives to when placing.</a:t>
            </a:r>
            <a:endParaRPr lang="en-US" sz="2100" dirty="0"/>
          </a:p>
        </p:txBody>
      </p:sp>
      <p:sp>
        <p:nvSpPr>
          <p:cNvPr id="7" name="Shape 5"/>
          <p:cNvSpPr/>
          <p:nvPr/>
        </p:nvSpPr>
        <p:spPr>
          <a:xfrm>
            <a:off x="952500" y="4489326"/>
            <a:ext cx="7810500" cy="2754511"/>
          </a:xfrm>
          <a:prstGeom prst="rect">
            <a:avLst/>
          </a:prstGeom>
          <a:solidFill>
            <a:srgbClr val="FFFFFF"/>
          </a:solidFill>
          <a:ln/>
        </p:spPr>
      </p:sp>
      <p:sp>
        <p:nvSpPr>
          <p:cNvPr id="8" name="Shape 6"/>
          <p:cNvSpPr/>
          <p:nvPr/>
        </p:nvSpPr>
        <p:spPr>
          <a:xfrm>
            <a:off x="952500" y="7234312"/>
            <a:ext cx="7810500" cy="9525"/>
          </a:xfrm>
          <a:prstGeom prst="rect">
            <a:avLst/>
          </a:prstGeom>
          <a:solidFill>
            <a:srgbClr val="D8D4CB"/>
          </a:solidFill>
          <a:ln/>
        </p:spPr>
      </p:sp>
      <p:sp>
        <p:nvSpPr>
          <p:cNvPr id="9" name="Shape 7"/>
          <p:cNvSpPr/>
          <p:nvPr/>
        </p:nvSpPr>
        <p:spPr>
          <a:xfrm>
            <a:off x="952500" y="4489326"/>
            <a:ext cx="7810500" cy="9525"/>
          </a:xfrm>
          <a:prstGeom prst="rect">
            <a:avLst/>
          </a:prstGeom>
          <a:solidFill>
            <a:srgbClr val="D8D4CB"/>
          </a:solidFill>
          <a:ln/>
        </p:spPr>
      </p:sp>
      <p:sp>
        <p:nvSpPr>
          <p:cNvPr id="10" name="Shape 8"/>
          <p:cNvSpPr/>
          <p:nvPr/>
        </p:nvSpPr>
        <p:spPr>
          <a:xfrm>
            <a:off x="952500" y="4489326"/>
            <a:ext cx="38100" cy="2754511"/>
          </a:xfrm>
          <a:prstGeom prst="rect">
            <a:avLst/>
          </a:prstGeom>
          <a:solidFill>
            <a:srgbClr val="C41230"/>
          </a:solidFill>
          <a:ln/>
        </p:spPr>
      </p:sp>
      <p:sp>
        <p:nvSpPr>
          <p:cNvPr id="11" name="Shape 9"/>
          <p:cNvSpPr/>
          <p:nvPr/>
        </p:nvSpPr>
        <p:spPr>
          <a:xfrm>
            <a:off x="8753475" y="4489326"/>
            <a:ext cx="9525" cy="2754511"/>
          </a:xfrm>
          <a:prstGeom prst="rect">
            <a:avLst/>
          </a:prstGeom>
          <a:solidFill>
            <a:srgbClr val="D8D4CB"/>
          </a:solidFill>
          <a:ln/>
        </p:spPr>
      </p:sp>
      <p:sp>
        <p:nvSpPr>
          <p:cNvPr id="12" name="Text 10"/>
          <p:cNvSpPr/>
          <p:nvPr/>
        </p:nvSpPr>
        <p:spPr>
          <a:xfrm>
            <a:off x="1219200" y="4708401"/>
            <a:ext cx="7539990" cy="2354461"/>
          </a:xfrm>
          <a:prstGeom prst="rect">
            <a:avLst/>
          </a:prstGeom>
          <a:noFill/>
          <a:ln/>
        </p:spPr>
        <p:txBody>
          <a:bodyPr wrap="square" lIns="25400" tIns="25400" rIns="25400" bIns="25400" rtlCol="0" anchor="t">
            <a:normAutofit/>
          </a:bodyPr>
          <a:lstStyle/>
          <a:p>
            <a:pPr algn="l" indent="0" marL="0">
              <a:lnSpc>
                <a:spcPct val="160000"/>
              </a:lnSpc>
              <a:buNone/>
            </a:pPr>
            <a:r>
              <a:rPr lang="en-US" sz="1425" dirty="0">
                <a:solidFill>
                  <a:srgbClr val="6B6F77"/>
                </a:solidFill>
                <a:latin typeface="JetBrains Mono" pitchFamily="34" charset="0"/>
                <a:ea typeface="JetBrains Mono" pitchFamily="34" charset="-122"/>
                <a:cs typeface="JetBrains Mono" pitchFamily="34" charset="-120"/>
              </a:rPr>
              <a:t># regions.yaml </a:t>
            </a:r>
            <a:pPr algn="l" indent="0" marL="0">
              <a:lnSpc>
                <a:spcPct val="160000"/>
              </a:lnSpc>
              <a:buNone/>
            </a:pPr>
            <a:r>
              <a:rPr lang="en-US" sz="1425" dirty="0">
                <a:solidFill>
                  <a:srgbClr val="15171A"/>
                </a:solidFill>
                <a:highlight>
                  <a:srgbClr val="FFFFFF"/>
                </a:highlight>
                <a:latin typeface="JetBrains Mono" pitchFamily="34" charset="0"/>
                <a:ea typeface="JetBrains Mono" pitchFamily="34" charset="-122"/>
                <a:cs typeface="JetBrains Mono" pitchFamily="34" charset="-120"/>
              </a:rPr>
              <a:t>- name: </a:t>
            </a:r>
            <a:pPr algn="l" indent="0" marL="0">
              <a:lnSpc>
                <a:spcPct val="160000"/>
              </a:lnSpc>
              <a:buNone/>
            </a:pPr>
            <a:r>
              <a:rPr lang="en-US" sz="1425" dirty="0">
                <a:solidFill>
                  <a:srgbClr val="C41230"/>
                </a:solidFill>
                <a:latin typeface="JetBrains Mono" pitchFamily="34" charset="0"/>
                <a:ea typeface="JetBrains Mono" pitchFamily="34" charset="-122"/>
                <a:cs typeface="JetBrains Mono" pitchFamily="34" charset="-120"/>
              </a:rPr>
              <a:t>A </a:t>
            </a:r>
            <a:pPr algn="l" indent="0" marL="0">
              <a:lnSpc>
                <a:spcPct val="160000"/>
              </a:lnSpc>
              <a:buNone/>
            </a:pPr>
            <a:r>
              <a:rPr lang="en-US" sz="1425" dirty="0">
                <a:solidFill>
                  <a:srgbClr val="15171A"/>
                </a:solidFill>
                <a:highlight>
                  <a:srgbClr val="FFFFFF"/>
                </a:highlight>
                <a:latin typeface="JetBrains Mono" pitchFamily="34" charset="0"/>
                <a:ea typeface="JetBrains Mono" pitchFamily="34" charset="-122"/>
                <a:cs typeface="JetBrains Mono" pitchFamily="34" charset="-120"/>
              </a:rPr>
              <a:t>polygon: - [0.0, 0.0] - [3.0, 0.0] - [3.0, 3.0] - [0.0, 3.0] place_anchor: [1.5, 1.5, 0.0]</a:t>
            </a:r>
            <a:endParaRPr lang="en-US" sz="1425" dirty="0"/>
          </a:p>
        </p:txBody>
      </p:sp>
      <p:sp>
        <p:nvSpPr>
          <p:cNvPr id="13" name="Text 11"/>
          <p:cNvSpPr/>
          <p:nvPr/>
        </p:nvSpPr>
        <p:spPr>
          <a:xfrm>
            <a:off x="952500" y="7491487"/>
            <a:ext cx="8044815"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6B6F77"/>
                </a:solidFill>
                <a:latin typeface="-apple-system" pitchFamily="34" charset="0"/>
                <a:ea typeface="-apple-system" pitchFamily="34" charset="-122"/>
                <a:cs typeface="-apple-system" pitchFamily="34" charset="-120"/>
              </a:rPr>
              <a:t>Cross-checked in RViz with </a:t>
            </a:r>
            <a:pPr algn="l" indent="0" marL="0">
              <a:lnSpc>
                <a:spcPct val="140000"/>
              </a:lnSpc>
              <a:buNone/>
            </a:pPr>
            <a:r>
              <a:rPr lang="en-US" sz="1650" i="1" dirty="0">
                <a:solidFill>
                  <a:srgbClr val="6B6F77"/>
                </a:solidFill>
                <a:latin typeface="-apple-system" pitchFamily="34" charset="0"/>
                <a:ea typeface="-apple-system" pitchFamily="34" charset="-122"/>
                <a:cs typeface="-apple-system" pitchFamily="34" charset="-120"/>
              </a:rPr>
              <a:t>Publish Point </a:t>
            </a:r>
            <a:pPr algn="l" indent="0" marL="0">
              <a:lnSpc>
                <a:spcPct val="140000"/>
              </a:lnSpc>
              <a:buNone/>
            </a:pPr>
            <a:r>
              <a:rPr lang="en-US" sz="1650" dirty="0">
                <a:solidFill>
                  <a:srgbClr val="6B6F77"/>
                </a:solidFill>
                <a:latin typeface="-apple-system" pitchFamily="34" charset="0"/>
                <a:ea typeface="-apple-system" pitchFamily="34" charset="-122"/>
                <a:cs typeface="-apple-system" pitchFamily="34" charset="-120"/>
              </a:rPr>
              <a:t>. We chose a manual step over learned segmentation — far more reliable for 5 min of work, and easy to re-use.</a:t>
            </a:r>
            <a:endParaRPr lang="en-US" sz="1650" dirty="0"/>
          </a:p>
        </p:txBody>
      </p:sp>
      <p:sp>
        <p:nvSpPr>
          <p:cNvPr id="14" name="Shape 12"/>
          <p:cNvSpPr/>
          <p:nvPr/>
        </p:nvSpPr>
        <p:spPr>
          <a:xfrm>
            <a:off x="9525000" y="3509293"/>
            <a:ext cx="7810500" cy="6641753"/>
          </a:xfrm>
          <a:prstGeom prst="rect">
            <a:avLst/>
          </a:prstGeom>
          <a:solidFill>
            <a:srgbClr val="FBF6EA"/>
          </a:solidFill>
          <a:ln w="9525">
            <a:solidFill>
              <a:srgbClr val="D8D4CB"/>
            </a:solidFill>
            <a:prstDash val="solid"/>
          </a:ln>
        </p:spPr>
      </p:sp>
      <p:pic>
        <p:nvPicPr>
          <p:cNvPr id="15" name="Image 0" descr="preencoded.png">    </p:cNvPr>
          <p:cNvPicPr>
            <a:picLocks noChangeAspect="1"/>
          </p:cNvPicPr>
          <p:nvPr/>
        </p:nvPicPr>
        <p:blipFill>
          <a:blip r:embed="rId1"/>
          <a:stretch>
            <a:fillRect/>
          </a:stretch>
        </p:blipFill>
        <p:spPr>
          <a:xfrm>
            <a:off x="9534525" y="3518818"/>
            <a:ext cx="7791450" cy="6622703"/>
          </a:xfrm>
          <a:prstGeom prst="rect">
            <a:avLst/>
          </a:prstGeom>
        </p:spPr>
      </p:pic>
      <p:sp>
        <p:nvSpPr>
          <p:cNvPr id="16" name="Text 13"/>
          <p:cNvSpPr/>
          <p:nvPr/>
        </p:nvSpPr>
        <p:spPr>
          <a:xfrm>
            <a:off x="9525000" y="10284396"/>
            <a:ext cx="8044815" cy="579090"/>
          </a:xfrm>
          <a:prstGeom prst="rect">
            <a:avLst/>
          </a:prstGeom>
          <a:noFill/>
          <a:ln/>
        </p:spPr>
        <p:txBody>
          <a:bodyPr wrap="square" lIns="25400" tIns="25400" rIns="25400" bIns="25400" rtlCol="0" anchor="t">
            <a:normAutofit/>
          </a:bodyPr>
          <a:lstStyle/>
          <a:p>
            <a:pPr algn="l" indent="0" marL="0">
              <a:lnSpc>
                <a:spcPct val="142000"/>
              </a:lnSpc>
              <a:buNone/>
            </a:pPr>
            <a:r>
              <a:rPr lang="en-US" sz="1500" spc="60" kern="0" dirty="0">
                <a:solidFill>
                  <a:srgbClr val="6B6F77"/>
                </a:solidFill>
                <a:latin typeface="JetBrains Mono" pitchFamily="34" charset="0"/>
                <a:ea typeface="JetBrains Mono" pitchFamily="34" charset="-122"/>
                <a:cs typeface="JetBrains Mono" pitchFamily="34" charset="-120"/>
              </a:rPr>
              <a:t>FIG 2 · T-SHAPED ROOM · THREE LABELLED REGIONS (TOP / LEFT / RIGHT) · RED DOTS = PLACE ANCHORS</a:t>
            </a:r>
            <a:endParaRPr lang="en-US" sz="1500" dirty="0"/>
          </a:p>
        </p:txBody>
      </p:sp>
      <p:sp>
        <p:nvSpPr>
          <p:cNvPr id="17" name="Text 14"/>
          <p:cNvSpPr/>
          <p:nvPr/>
        </p:nvSpPr>
        <p:spPr>
          <a:xfrm>
            <a:off x="952500" y="9624492"/>
            <a:ext cx="363258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16-762 · STRETCH REARRANGEMENT</a:t>
            </a:r>
            <a:endParaRPr lang="en-US" sz="1350" dirty="0"/>
          </a:p>
        </p:txBody>
      </p:sp>
      <p:sp>
        <p:nvSpPr>
          <p:cNvPr id="18" name="Text 15"/>
          <p:cNvSpPr/>
          <p:nvPr/>
        </p:nvSpPr>
        <p:spPr>
          <a:xfrm>
            <a:off x="17117318" y="9624492"/>
            <a:ext cx="294382"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07</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8DA"/>
        </a:solidFill>
      </p:bgPr>
    </p:bg>
    <p:spTree>
      <p:nvGrpSpPr>
        <p:cNvPr id="1" name=""/>
        <p:cNvGrpSpPr/>
        <p:nvPr/>
      </p:nvGrpSpPr>
      <p:grpSpPr>
        <a:xfrm>
          <a:off x="0" y="0"/>
          <a:ext cx="0" cy="0"/>
          <a:chOff x="0" y="0"/>
          <a:chExt cx="0" cy="0"/>
        </a:xfrm>
      </p:grpSpPr>
      <p:sp>
        <p:nvSpPr>
          <p:cNvPr id="2" name="Text 0"/>
          <p:cNvSpPr/>
          <p:nvPr/>
        </p:nvSpPr>
        <p:spPr>
          <a:xfrm>
            <a:off x="952500" y="419100"/>
            <a:ext cx="2744557"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STAGE 3 · TASK PLANNER</a:t>
            </a:r>
            <a:endParaRPr lang="en-US" sz="1350" dirty="0"/>
          </a:p>
        </p:txBody>
      </p:sp>
      <p:sp>
        <p:nvSpPr>
          <p:cNvPr id="3" name="Text 1"/>
          <p:cNvSpPr/>
          <p:nvPr/>
        </p:nvSpPr>
        <p:spPr>
          <a:xfrm>
            <a:off x="16715110" y="419100"/>
            <a:ext cx="69659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08 / 12</a:t>
            </a:r>
            <a:endParaRPr lang="en-US" sz="1350" dirty="0"/>
          </a:p>
        </p:txBody>
      </p:sp>
      <p:sp>
        <p:nvSpPr>
          <p:cNvPr id="4" name="Text 2"/>
          <p:cNvSpPr/>
          <p:nvPr/>
        </p:nvSpPr>
        <p:spPr>
          <a:xfrm>
            <a:off x="952500" y="1809750"/>
            <a:ext cx="16874490" cy="335607"/>
          </a:xfrm>
          <a:prstGeom prst="rect">
            <a:avLst/>
          </a:prstGeom>
          <a:noFill/>
          <a:ln/>
        </p:spPr>
        <p:txBody>
          <a:bodyPr wrap="square" lIns="25400" tIns="25400" rIns="25400" bIns="25400" rtlCol="0" anchor="ctr">
            <a:normAutofit/>
          </a:bodyPr>
          <a:lstStyle/>
          <a:p>
            <a:pPr algn="l" indent="0" marL="0">
              <a:lnSpc>
                <a:spcPct val="142000"/>
              </a:lnSpc>
              <a:buNone/>
            </a:pPr>
            <a:r>
              <a:rPr lang="en-US" sz="1650" b="1" spc="264" kern="0" dirty="0">
                <a:solidFill>
                  <a:srgbClr val="C41230"/>
                </a:solidFill>
                <a:latin typeface="-apple-system" pitchFamily="34" charset="0"/>
                <a:ea typeface="-apple-system" pitchFamily="34" charset="-122"/>
                <a:cs typeface="-apple-system" pitchFamily="34" charset="-120"/>
              </a:rPr>
              <a:t>GEMINI 2.5 FLASH · STRICT JSON OUTPUT</a:t>
            </a:r>
            <a:endParaRPr lang="en-US" sz="1650" dirty="0"/>
          </a:p>
        </p:txBody>
      </p:sp>
      <p:sp>
        <p:nvSpPr>
          <p:cNvPr id="5" name="Text 3"/>
          <p:cNvSpPr/>
          <p:nvPr/>
        </p:nvSpPr>
        <p:spPr>
          <a:xfrm>
            <a:off x="952500" y="2373957"/>
            <a:ext cx="1687449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b="1" spc="-72" kern="0" dirty="0">
                <a:solidFill>
                  <a:srgbClr val="15171A"/>
                </a:solidFill>
                <a:latin typeface="Source Serif 4" pitchFamily="34" charset="0"/>
                <a:ea typeface="Source Serif 4" pitchFamily="34" charset="-122"/>
                <a:cs typeface="Source Serif 4" pitchFamily="34" charset="-120"/>
              </a:rPr>
              <a:t>From instruction to pick-place plan.</a:t>
            </a:r>
            <a:endParaRPr lang="en-US" sz="4800" dirty="0"/>
          </a:p>
        </p:txBody>
      </p:sp>
      <p:sp>
        <p:nvSpPr>
          <p:cNvPr id="6" name="Shape 4"/>
          <p:cNvSpPr/>
          <p:nvPr/>
        </p:nvSpPr>
        <p:spPr>
          <a:xfrm>
            <a:off x="952500" y="3509293"/>
            <a:ext cx="6712074" cy="9525"/>
          </a:xfrm>
          <a:prstGeom prst="rect">
            <a:avLst/>
          </a:prstGeom>
          <a:solidFill>
            <a:srgbClr val="D8D4CB"/>
          </a:solidFill>
          <a:ln/>
        </p:spPr>
      </p:sp>
      <p:sp>
        <p:nvSpPr>
          <p:cNvPr id="7" name="Text 5"/>
          <p:cNvSpPr/>
          <p:nvPr/>
        </p:nvSpPr>
        <p:spPr>
          <a:xfrm>
            <a:off x="952500" y="3709318"/>
            <a:ext cx="457200" cy="73833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IN</a:t>
            </a:r>
            <a:endParaRPr lang="en-US" sz="1500" dirty="0"/>
          </a:p>
        </p:txBody>
      </p:sp>
      <p:sp>
        <p:nvSpPr>
          <p:cNvPr id="8" name="Text 6"/>
          <p:cNvSpPr/>
          <p:nvPr/>
        </p:nvSpPr>
        <p:spPr>
          <a:xfrm>
            <a:off x="1543050" y="3652168"/>
            <a:ext cx="6305170" cy="795486"/>
          </a:xfrm>
          <a:prstGeom prst="rect">
            <a:avLst/>
          </a:prstGeom>
          <a:noFill/>
          <a:ln/>
        </p:spPr>
        <p:txBody>
          <a:bodyPr wrap="square" lIns="25400" tIns="25400" rIns="25400" bIns="25400" rtlCol="0" anchor="t">
            <a:normAutofit/>
          </a:bodyPr>
          <a:lstStyle/>
          <a:p>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Robot pose · object list (label, xy, current region) · regions · instruction.</a:t>
            </a:r>
            <a:endParaRPr lang="en-US" sz="2100" dirty="0"/>
          </a:p>
        </p:txBody>
      </p:sp>
      <p:sp>
        <p:nvSpPr>
          <p:cNvPr id="9" name="Shape 7"/>
          <p:cNvSpPr/>
          <p:nvPr/>
        </p:nvSpPr>
        <p:spPr>
          <a:xfrm>
            <a:off x="952500" y="4542904"/>
            <a:ext cx="6712074" cy="9525"/>
          </a:xfrm>
          <a:prstGeom prst="rect">
            <a:avLst/>
          </a:prstGeom>
          <a:solidFill>
            <a:srgbClr val="D8D4CB"/>
          </a:solidFill>
          <a:ln/>
        </p:spPr>
      </p:sp>
      <p:sp>
        <p:nvSpPr>
          <p:cNvPr id="10" name="Text 8"/>
          <p:cNvSpPr/>
          <p:nvPr/>
        </p:nvSpPr>
        <p:spPr>
          <a:xfrm>
            <a:off x="952500" y="4742929"/>
            <a:ext cx="457200" cy="73833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IN</a:t>
            </a:r>
            <a:endParaRPr lang="en-US" sz="1500" dirty="0"/>
          </a:p>
        </p:txBody>
      </p:sp>
      <p:sp>
        <p:nvSpPr>
          <p:cNvPr id="11" name="Text 9"/>
          <p:cNvSpPr/>
          <p:nvPr/>
        </p:nvSpPr>
        <p:spPr>
          <a:xfrm>
            <a:off x="1543050" y="4685779"/>
            <a:ext cx="6305170" cy="795486"/>
          </a:xfrm>
          <a:prstGeom prst="rect">
            <a:avLst/>
          </a:prstGeom>
          <a:noFill/>
          <a:ln/>
        </p:spPr>
        <p:txBody>
          <a:bodyPr wrap="square" lIns="25400" tIns="25400" rIns="25400" bIns="25400" rtlCol="0" anchor="t">
            <a:normAutofit/>
          </a:bodyPr>
          <a:lstStyle/>
          <a:p>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Optional </a:t>
            </a:r>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context image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from the head camera for disambiguation.</a:t>
            </a:r>
            <a:endParaRPr lang="en-US" sz="2100" dirty="0"/>
          </a:p>
        </p:txBody>
      </p:sp>
      <p:sp>
        <p:nvSpPr>
          <p:cNvPr id="12" name="Shape 10"/>
          <p:cNvSpPr/>
          <p:nvPr/>
        </p:nvSpPr>
        <p:spPr>
          <a:xfrm>
            <a:off x="952500" y="5576515"/>
            <a:ext cx="6712074" cy="9525"/>
          </a:xfrm>
          <a:prstGeom prst="rect">
            <a:avLst/>
          </a:prstGeom>
          <a:solidFill>
            <a:srgbClr val="D8D4CB"/>
          </a:solidFill>
          <a:ln/>
        </p:spPr>
      </p:sp>
      <p:sp>
        <p:nvSpPr>
          <p:cNvPr id="13" name="Text 11"/>
          <p:cNvSpPr/>
          <p:nvPr/>
        </p:nvSpPr>
        <p:spPr>
          <a:xfrm>
            <a:off x="952500" y="5776540"/>
            <a:ext cx="457200" cy="73833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OUT</a:t>
            </a:r>
            <a:endParaRPr lang="en-US" sz="1500" dirty="0"/>
          </a:p>
        </p:txBody>
      </p:sp>
      <p:sp>
        <p:nvSpPr>
          <p:cNvPr id="14" name="Text 12"/>
          <p:cNvSpPr/>
          <p:nvPr/>
        </p:nvSpPr>
        <p:spPr>
          <a:xfrm>
            <a:off x="1543050" y="5719390"/>
            <a:ext cx="6305170" cy="795486"/>
          </a:xfrm>
          <a:prstGeom prst="rect">
            <a:avLst/>
          </a:prstGeom>
          <a:noFill/>
          <a:ln/>
        </p:spPr>
        <p:txBody>
          <a:bodyPr wrap="square" lIns="25400" tIns="25400" rIns="25400" bIns="25400" rtlCol="0" anchor="t">
            <a:normAutofit/>
          </a:bodyPr>
          <a:lstStyle/>
          <a:p>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JSON: </a:t>
            </a:r>
            <a:pPr algn="l" indent="0" marL="0">
              <a:lnSpc>
                <a:spcPct val="142000"/>
              </a:lnSpc>
              <a:buNone/>
            </a:pPr>
            <a:r>
              <a:rPr lang="en-US" sz="2100" dirty="0">
                <a:solidFill>
                  <a:srgbClr val="3A3E45"/>
                </a:solidFill>
                <a:latin typeface="JetBrains Mono" pitchFamily="34" charset="0"/>
                <a:ea typeface="JetBrains Mono" pitchFamily="34" charset="-122"/>
                <a:cs typeface="JetBrains Mono" pitchFamily="34" charset="-120"/>
              </a:rPr>
              <a:t>{tasks: [(object, region, order_index)]}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 travel-minimizing.</a:t>
            </a:r>
            <a:endParaRPr lang="en-US" sz="2100" dirty="0"/>
          </a:p>
        </p:txBody>
      </p:sp>
      <p:sp>
        <p:nvSpPr>
          <p:cNvPr id="15" name="Shape 13"/>
          <p:cNvSpPr/>
          <p:nvPr/>
        </p:nvSpPr>
        <p:spPr>
          <a:xfrm>
            <a:off x="952500" y="7643738"/>
            <a:ext cx="6712074" cy="9525"/>
          </a:xfrm>
          <a:prstGeom prst="rect">
            <a:avLst/>
          </a:prstGeom>
          <a:solidFill>
            <a:srgbClr val="D8D4CB"/>
          </a:solidFill>
          <a:ln/>
        </p:spPr>
      </p:sp>
      <p:sp>
        <p:nvSpPr>
          <p:cNvPr id="16" name="Shape 14"/>
          <p:cNvSpPr/>
          <p:nvPr/>
        </p:nvSpPr>
        <p:spPr>
          <a:xfrm>
            <a:off x="952500" y="6610127"/>
            <a:ext cx="6712074" cy="9525"/>
          </a:xfrm>
          <a:prstGeom prst="rect">
            <a:avLst/>
          </a:prstGeom>
          <a:solidFill>
            <a:srgbClr val="D8D4CB"/>
          </a:solidFill>
          <a:ln/>
        </p:spPr>
      </p:sp>
      <p:sp>
        <p:nvSpPr>
          <p:cNvPr id="17" name="Text 15"/>
          <p:cNvSpPr/>
          <p:nvPr/>
        </p:nvSpPr>
        <p:spPr>
          <a:xfrm>
            <a:off x="952500" y="6810152"/>
            <a:ext cx="457200" cy="738336"/>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C41230"/>
                </a:solidFill>
                <a:latin typeface="JetBrains Mono" pitchFamily="34" charset="0"/>
                <a:ea typeface="JetBrains Mono" pitchFamily="34" charset="-122"/>
                <a:cs typeface="JetBrains Mono" pitchFamily="34" charset="-120"/>
              </a:rPr>
              <a:t>REL</a:t>
            </a:r>
            <a:endParaRPr lang="en-US" sz="1500" dirty="0"/>
          </a:p>
        </p:txBody>
      </p:sp>
      <p:sp>
        <p:nvSpPr>
          <p:cNvPr id="18" name="Text 16"/>
          <p:cNvSpPr/>
          <p:nvPr/>
        </p:nvSpPr>
        <p:spPr>
          <a:xfrm>
            <a:off x="1543050" y="6753002"/>
            <a:ext cx="6305170" cy="795486"/>
          </a:xfrm>
          <a:prstGeom prst="rect">
            <a:avLst/>
          </a:prstGeom>
          <a:noFill/>
          <a:ln/>
        </p:spPr>
        <p:txBody>
          <a:bodyPr wrap="square" lIns="25400" tIns="25400" rIns="25400" bIns="25400" rtlCol="0" anchor="t">
            <a:normAutofit/>
          </a:bodyPr>
          <a:lstStyle/>
          <a:p>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Exact-match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label + region validation, </a:t>
            </a:r>
            <a:pPr algn="l" indent="0" marL="0">
              <a:lnSpc>
                <a:spcPct val="142000"/>
              </a:lnSpc>
              <a:buNone/>
            </a:pPr>
            <a:r>
              <a:rPr lang="en-US" sz="2100" b="1" dirty="0">
                <a:solidFill>
                  <a:srgbClr val="15171A"/>
                </a:solidFill>
                <a:latin typeface="-apple-system" pitchFamily="34" charset="0"/>
                <a:ea typeface="-apple-system" pitchFamily="34" charset="-122"/>
                <a:cs typeface="-apple-system" pitchFamily="34" charset="-120"/>
              </a:rPr>
              <a:t>5-retry </a:t>
            </a:r>
            <a:pPr algn="l" indent="0" marL="0">
              <a:lnSpc>
                <a:spcPct val="142000"/>
              </a:lnSpc>
              <a:buNone/>
            </a:pPr>
            <a:r>
              <a:rPr lang="en-US" sz="2100" dirty="0">
                <a:solidFill>
                  <a:srgbClr val="3A3E45"/>
                </a:solidFill>
                <a:latin typeface="-apple-system" pitchFamily="34" charset="0"/>
                <a:ea typeface="-apple-system" pitchFamily="34" charset="-122"/>
                <a:cs typeface="-apple-system" pitchFamily="34" charset="-120"/>
              </a:rPr>
              <a:t>exponential backoff on malformed output.</a:t>
            </a:r>
            <a:endParaRPr lang="en-US" sz="2100" dirty="0"/>
          </a:p>
        </p:txBody>
      </p:sp>
      <p:sp>
        <p:nvSpPr>
          <p:cNvPr id="19" name="Shape 17"/>
          <p:cNvSpPr/>
          <p:nvPr/>
        </p:nvSpPr>
        <p:spPr>
          <a:xfrm>
            <a:off x="952500" y="7862813"/>
            <a:ext cx="6712074" cy="19050"/>
          </a:xfrm>
          <a:prstGeom prst="rect">
            <a:avLst/>
          </a:prstGeom>
          <a:solidFill>
            <a:srgbClr val="15171A">
              <a:alpha val="22000"/>
            </a:srgbClr>
          </a:solidFill>
          <a:ln/>
        </p:spPr>
      </p:sp>
      <p:sp>
        <p:nvSpPr>
          <p:cNvPr id="20" name="Text 18"/>
          <p:cNvSpPr/>
          <p:nvPr/>
        </p:nvSpPr>
        <p:spPr>
          <a:xfrm>
            <a:off x="952500" y="8091413"/>
            <a:ext cx="6913436"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6B6F77"/>
                </a:solidFill>
                <a:latin typeface="-apple-system" pitchFamily="34" charset="0"/>
                <a:ea typeface="-apple-system" pitchFamily="34" charset="-122"/>
                <a:cs typeface="-apple-system" pitchFamily="34" charset="-120"/>
              </a:rPr>
              <a:t>The planner </a:t>
            </a:r>
            <a:pPr algn="l" indent="0" marL="0">
              <a:lnSpc>
                <a:spcPct val="140000"/>
              </a:lnSpc>
              <a:buNone/>
            </a:pPr>
            <a:r>
              <a:rPr lang="en-US" sz="1650" i="1" dirty="0">
                <a:solidFill>
                  <a:srgbClr val="6B6F77"/>
                </a:solidFill>
                <a:latin typeface="-apple-system" pitchFamily="34" charset="0"/>
                <a:ea typeface="-apple-system" pitchFamily="34" charset="-122"/>
                <a:cs typeface="-apple-system" pitchFamily="34" charset="-120"/>
              </a:rPr>
              <a:t>skips </a:t>
            </a:r>
            <a:pPr algn="l" indent="0" marL="0">
              <a:lnSpc>
                <a:spcPct val="140000"/>
              </a:lnSpc>
              <a:buNone/>
            </a:pPr>
            <a:r>
              <a:rPr lang="en-US" sz="1650" dirty="0">
                <a:solidFill>
                  <a:srgbClr val="6B6F77"/>
                </a:solidFill>
                <a:latin typeface="-apple-system" pitchFamily="34" charset="0"/>
                <a:ea typeface="-apple-system" pitchFamily="34" charset="-122"/>
                <a:cs typeface="-apple-system" pitchFamily="34" charset="-120"/>
              </a:rPr>
              <a:t>objects already in their desired region — replanning from detector updates is automatic.</a:t>
            </a:r>
            <a:endParaRPr lang="en-US" sz="1650" dirty="0"/>
          </a:p>
        </p:txBody>
      </p:sp>
      <p:sp>
        <p:nvSpPr>
          <p:cNvPr id="21" name="Shape 19"/>
          <p:cNvSpPr/>
          <p:nvPr/>
        </p:nvSpPr>
        <p:spPr>
          <a:xfrm>
            <a:off x="8274174" y="3509293"/>
            <a:ext cx="9061326" cy="1862063"/>
          </a:xfrm>
          <a:prstGeom prst="roundRect">
            <a:avLst>
              <a:gd name="adj" fmla="val 2046"/>
            </a:avLst>
          </a:prstGeom>
          <a:solidFill>
            <a:srgbClr val="14161A"/>
          </a:solidFill>
          <a:ln/>
        </p:spPr>
      </p:sp>
      <p:sp>
        <p:nvSpPr>
          <p:cNvPr id="22" name="Shape 20"/>
          <p:cNvSpPr/>
          <p:nvPr/>
        </p:nvSpPr>
        <p:spPr>
          <a:xfrm>
            <a:off x="8274174" y="3509293"/>
            <a:ext cx="38100" cy="1862063"/>
          </a:xfrm>
          <a:prstGeom prst="rect">
            <a:avLst/>
          </a:prstGeom>
          <a:solidFill>
            <a:srgbClr val="C41230"/>
          </a:solidFill>
          <a:ln/>
        </p:spPr>
      </p:sp>
      <p:sp>
        <p:nvSpPr>
          <p:cNvPr id="23" name="Text 21"/>
          <p:cNvSpPr/>
          <p:nvPr/>
        </p:nvSpPr>
        <p:spPr>
          <a:xfrm>
            <a:off x="8617074" y="3775993"/>
            <a:ext cx="8685466" cy="1366763"/>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7A8088"/>
                </a:solidFill>
                <a:latin typeface="JetBrains Mono" pitchFamily="34" charset="0"/>
                <a:ea typeface="JetBrains Mono" pitchFamily="34" charset="-122"/>
                <a:cs typeface="JetBrains Mono" pitchFamily="34" charset="-120"/>
              </a:rPr>
              <a:t># operator message </a:t>
            </a:r>
            <a:pPr algn="l" indent="0" marL="0">
              <a:lnSpc>
                <a:spcPct val="155000"/>
              </a:lnSpc>
              <a:buNone/>
            </a:pPr>
            <a:r>
              <a:rPr lang="en-US" sz="1350" dirty="0">
                <a:solidFill>
                  <a:srgbClr val="E8B4B8"/>
                </a:solidFill>
                <a:latin typeface="JetBrains Mono" pitchFamily="34" charset="0"/>
                <a:ea typeface="JetBrains Mono" pitchFamily="34" charset="-122"/>
                <a:cs typeface="JetBrains Mono" pitchFamily="34" charset="-120"/>
              </a:rPr>
              <a:t>user </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"put the orange cup to region B, put the yellow cup to region A." </a:t>
            </a:r>
            <a:pPr algn="l" indent="0" marL="0">
              <a:lnSpc>
                <a:spcPct val="155000"/>
              </a:lnSpc>
              <a:buNone/>
            </a:pPr>
            <a:r>
              <a:rPr lang="en-US" sz="1350" dirty="0">
                <a:solidFill>
                  <a:srgbClr val="7A8088"/>
                </a:solidFill>
                <a:latin typeface="JetBrains Mono" pitchFamily="34" charset="0"/>
                <a:ea typeface="JetBrains Mono" pitchFamily="34" charset="-122"/>
                <a:cs typeface="JetBrains Mono" pitchFamily="34" charset="-120"/>
              </a:rPr>
              <a:t># Gemini output (parsed) </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"reasoning"</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"visit yellow first — closer" </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"tasks"</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 {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"object_label"</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"yellow_cup"</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"target_region"</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"A"</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"order_index"</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0 }, {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"object_label"</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"orange_cup"</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"target_region"</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"B"</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a:t>
            </a:r>
            <a:pPr algn="l" indent="0" marL="0">
              <a:lnSpc>
                <a:spcPct val="155000"/>
              </a:lnSpc>
              <a:buNone/>
            </a:pPr>
            <a:r>
              <a:rPr lang="en-US" sz="1350" dirty="0">
                <a:solidFill>
                  <a:srgbClr val="C2D9A8"/>
                </a:solidFill>
                <a:latin typeface="JetBrains Mono" pitchFamily="34" charset="0"/>
                <a:ea typeface="JetBrains Mono" pitchFamily="34" charset="-122"/>
                <a:cs typeface="JetBrains Mono" pitchFamily="34" charset="-120"/>
              </a:rPr>
              <a:t>"order_index"</a:t>
            </a:r>
            <a:pPr algn="l" indent="0" marL="0">
              <a:lnSpc>
                <a:spcPct val="155000"/>
              </a:lnSpc>
              <a:buNone/>
            </a:pPr>
            <a:r>
              <a:rPr lang="en-US" sz="1350" dirty="0">
                <a:solidFill>
                  <a:srgbClr val="D8D5CC"/>
                </a:solidFill>
                <a:highlight>
                  <a:srgbClr val="14161A"/>
                </a:highlight>
                <a:latin typeface="JetBrains Mono" pitchFamily="34" charset="0"/>
                <a:ea typeface="JetBrains Mono" pitchFamily="34" charset="-122"/>
                <a:cs typeface="JetBrains Mono" pitchFamily="34" charset="-120"/>
              </a:rPr>
              <a:t>: 1 } ] }</a:t>
            </a:r>
            <a:endParaRPr lang="en-US" sz="1350" dirty="0"/>
          </a:p>
        </p:txBody>
      </p:sp>
      <p:sp>
        <p:nvSpPr>
          <p:cNvPr id="24" name="Text 22"/>
          <p:cNvSpPr/>
          <p:nvPr/>
        </p:nvSpPr>
        <p:spPr>
          <a:xfrm>
            <a:off x="952500" y="9624492"/>
            <a:ext cx="363258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16-762 · STRETCH REARRANGEMENT</a:t>
            </a:r>
            <a:endParaRPr lang="en-US" sz="1350" dirty="0"/>
          </a:p>
        </p:txBody>
      </p:sp>
      <p:sp>
        <p:nvSpPr>
          <p:cNvPr id="25" name="Text 23"/>
          <p:cNvSpPr/>
          <p:nvPr/>
        </p:nvSpPr>
        <p:spPr>
          <a:xfrm>
            <a:off x="17117318" y="9624492"/>
            <a:ext cx="294382"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08</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8"/>
        </a:solidFill>
      </p:bgPr>
    </p:bg>
    <p:spTree>
      <p:nvGrpSpPr>
        <p:cNvPr id="1" name=""/>
        <p:cNvGrpSpPr/>
        <p:nvPr/>
      </p:nvGrpSpPr>
      <p:grpSpPr>
        <a:xfrm>
          <a:off x="0" y="0"/>
          <a:ext cx="0" cy="0"/>
          <a:chOff x="0" y="0"/>
          <a:chExt cx="0" cy="0"/>
        </a:xfrm>
      </p:grpSpPr>
      <p:sp>
        <p:nvSpPr>
          <p:cNvPr id="2" name="Text 0"/>
          <p:cNvSpPr/>
          <p:nvPr/>
        </p:nvSpPr>
        <p:spPr>
          <a:xfrm>
            <a:off x="952500" y="419100"/>
            <a:ext cx="2946827"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NAVIGATION COORDINATOR</a:t>
            </a:r>
            <a:endParaRPr lang="en-US" sz="1350" dirty="0"/>
          </a:p>
        </p:txBody>
      </p:sp>
      <p:sp>
        <p:nvSpPr>
          <p:cNvPr id="3" name="Text 1"/>
          <p:cNvSpPr/>
          <p:nvPr/>
        </p:nvSpPr>
        <p:spPr>
          <a:xfrm>
            <a:off x="16715110" y="419100"/>
            <a:ext cx="69659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09 / 12</a:t>
            </a:r>
            <a:endParaRPr lang="en-US" sz="1350" dirty="0"/>
          </a:p>
        </p:txBody>
      </p:sp>
      <p:sp>
        <p:nvSpPr>
          <p:cNvPr id="4" name="Text 2"/>
          <p:cNvSpPr/>
          <p:nvPr/>
        </p:nvSpPr>
        <p:spPr>
          <a:xfrm>
            <a:off x="952500" y="1809750"/>
            <a:ext cx="1687449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b="1" spc="-72" kern="0" dirty="0">
                <a:solidFill>
                  <a:srgbClr val="15171A"/>
                </a:solidFill>
                <a:latin typeface="Source Serif 4" pitchFamily="34" charset="0"/>
                <a:ea typeface="Source Serif 4" pitchFamily="34" charset="-122"/>
                <a:cs typeface="Source Serif 4" pitchFamily="34" charset="-120"/>
              </a:rPr>
              <a:t>A tiny state machine around Nav2.</a:t>
            </a:r>
            <a:endParaRPr lang="en-US" sz="4800" dirty="0"/>
          </a:p>
        </p:txBody>
      </p:sp>
      <p:sp>
        <p:nvSpPr>
          <p:cNvPr id="5" name="Text 3"/>
          <p:cNvSpPr/>
          <p:nvPr/>
        </p:nvSpPr>
        <p:spPr>
          <a:xfrm>
            <a:off x="952500" y="2945085"/>
            <a:ext cx="8044815" cy="73149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3A3E45"/>
                </a:solidFill>
                <a:latin typeface="-apple-system" pitchFamily="34" charset="0"/>
                <a:ea typeface="-apple-system" pitchFamily="34" charset="-122"/>
                <a:cs typeface="-apple-system" pitchFamily="34" charset="-120"/>
              </a:rPr>
              <a:t>Nav2 handles global planning and costmaps; our coordinator handles </a:t>
            </a:r>
            <a:pPr algn="l" indent="0" marL="0">
              <a:lnSpc>
                <a:spcPct val="140000"/>
              </a:lnSpc>
              <a:buNone/>
            </a:pPr>
            <a:r>
              <a:rPr lang="en-US" sz="1950" b="1" dirty="0">
                <a:solidFill>
                  <a:srgbClr val="3A3E45"/>
                </a:solidFill>
                <a:latin typeface="-apple-system" pitchFamily="34" charset="0"/>
                <a:ea typeface="-apple-system" pitchFamily="34" charset="-122"/>
                <a:cs typeface="-apple-system" pitchFamily="34" charset="-120"/>
              </a:rPr>
              <a:t>when to stop </a:t>
            </a:r>
            <a:pPr algn="l" indent="0" marL="0">
              <a:lnSpc>
                <a:spcPct val="140000"/>
              </a:lnSpc>
              <a:buNone/>
            </a:pPr>
            <a:r>
              <a:rPr lang="en-US" sz="1950" dirty="0">
                <a:solidFill>
                  <a:srgbClr val="3A3E45"/>
                </a:solidFill>
                <a:latin typeface="-apple-system" pitchFamily="34" charset="0"/>
                <a:ea typeface="-apple-system" pitchFamily="34" charset="-122"/>
                <a:cs typeface="-apple-system" pitchFamily="34" charset="-120"/>
              </a:rPr>
              <a:t>and </a:t>
            </a:r>
            <a:pPr algn="l" indent="0" marL="0">
              <a:lnSpc>
                <a:spcPct val="140000"/>
              </a:lnSpc>
              <a:buNone/>
            </a:pPr>
            <a:r>
              <a:rPr lang="en-US" sz="1950" b="1" dirty="0">
                <a:solidFill>
                  <a:srgbClr val="3A3E45"/>
                </a:solidFill>
                <a:latin typeface="-apple-system" pitchFamily="34" charset="0"/>
                <a:ea typeface="-apple-system" pitchFamily="34" charset="-122"/>
                <a:cs typeface="-apple-system" pitchFamily="34" charset="-120"/>
              </a:rPr>
              <a:t>who goes next</a:t>
            </a:r>
            <a:pPr algn="l" indent="0" marL="0">
              <a:lnSpc>
                <a:spcPct val="140000"/>
              </a:lnSpc>
              <a:buNone/>
            </a:pPr>
            <a:r>
              <a:rPr lang="en-US" sz="1950" dirty="0">
                <a:solidFill>
                  <a:srgbClr val="3A3E45"/>
                </a:solidFill>
                <a:latin typeface="-apple-system" pitchFamily="34" charset="0"/>
                <a:ea typeface="-apple-system" pitchFamily="34" charset="-122"/>
                <a:cs typeface="-apple-system" pitchFamily="34" charset="-120"/>
              </a:rPr>
              <a:t>.</a:t>
            </a:r>
            <a:endParaRPr lang="en-US" sz="1950" dirty="0"/>
          </a:p>
        </p:txBody>
      </p:sp>
      <p:sp>
        <p:nvSpPr>
          <p:cNvPr id="6" name="Shape 4"/>
          <p:cNvSpPr/>
          <p:nvPr/>
        </p:nvSpPr>
        <p:spPr>
          <a:xfrm>
            <a:off x="952500" y="3905176"/>
            <a:ext cx="7810500" cy="842963"/>
          </a:xfrm>
          <a:prstGeom prst="rect">
            <a:avLst/>
          </a:prstGeom>
          <a:solidFill>
            <a:srgbClr val="EEE8DA"/>
          </a:solidFill>
          <a:ln w="14288">
            <a:solidFill>
              <a:srgbClr val="D8D4CB"/>
            </a:solidFill>
            <a:prstDash val="solid"/>
          </a:ln>
        </p:spPr>
      </p:sp>
      <p:sp>
        <p:nvSpPr>
          <p:cNvPr id="7" name="Text 5"/>
          <p:cNvSpPr/>
          <p:nvPr/>
        </p:nvSpPr>
        <p:spPr>
          <a:xfrm>
            <a:off x="1138238" y="4071863"/>
            <a:ext cx="7662196"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5171A"/>
                </a:solidFill>
                <a:latin typeface="Inter" pitchFamily="34" charset="0"/>
                <a:ea typeface="Inter" pitchFamily="34" charset="-122"/>
                <a:cs typeface="Inter" pitchFamily="34" charset="-120"/>
              </a:rPr>
              <a:t>IDLE → AWAITING_GO</a:t>
            </a:r>
            <a:endParaRPr lang="en-US" sz="1650" dirty="0"/>
          </a:p>
        </p:txBody>
      </p:sp>
      <p:sp>
        <p:nvSpPr>
          <p:cNvPr id="8" name="Text 6"/>
          <p:cNvSpPr/>
          <p:nvPr/>
        </p:nvSpPr>
        <p:spPr>
          <a:xfrm>
            <a:off x="1138238" y="4390951"/>
            <a:ext cx="7662196" cy="228600"/>
          </a:xfrm>
          <a:prstGeom prst="rect">
            <a:avLst/>
          </a:prstGeom>
          <a:noFill/>
          <a:ln/>
        </p:spPr>
        <p:txBody>
          <a:bodyPr wrap="square" lIns="25400" tIns="25400" rIns="25400" bIns="25400" rtlCol="0" anchor="t">
            <a:normAutofit/>
          </a:bodyPr>
          <a:lstStyle/>
          <a:p>
            <a:pPr algn="l" indent="0" marL="0">
              <a:lnSpc>
                <a:spcPct val="125000"/>
              </a:lnSpc>
              <a:buNone/>
            </a:pPr>
            <a:r>
              <a:rPr lang="en-US" sz="1200" dirty="0">
                <a:solidFill>
                  <a:srgbClr val="6B6F77"/>
                </a:solidFill>
                <a:latin typeface="JetBrains Mono" pitchFamily="34" charset="0"/>
                <a:ea typeface="JetBrains Mono" pitchFamily="34" charset="-122"/>
                <a:cs typeface="JetBrains Mono" pitchFamily="34" charset="-120"/>
              </a:rPr>
              <a:t>on /nav/goals (PoseArray)</a:t>
            </a:r>
            <a:endParaRPr lang="en-US" sz="1200" dirty="0"/>
          </a:p>
        </p:txBody>
      </p:sp>
      <p:sp>
        <p:nvSpPr>
          <p:cNvPr id="9" name="Text 7"/>
          <p:cNvSpPr/>
          <p:nvPr/>
        </p:nvSpPr>
        <p:spPr>
          <a:xfrm>
            <a:off x="1238250" y="4881488"/>
            <a:ext cx="7759065" cy="240953"/>
          </a:xfrm>
          <a:prstGeom prst="rect">
            <a:avLst/>
          </a:prstGeom>
          <a:noFill/>
          <a:ln/>
        </p:spPr>
        <p:txBody>
          <a:bodyPr wrap="square" lIns="25400" tIns="25400" rIns="25400" bIns="25400" rtlCol="0" anchor="ctr">
            <a:normAutofit/>
          </a:bodyPr>
          <a:lstStyle/>
          <a:p>
            <a:pPr algn="l" indent="0" marL="0">
              <a:lnSpc>
                <a:spcPct val="142000"/>
              </a:lnSpc>
              <a:buNone/>
            </a:pPr>
            <a:r>
              <a:rPr lang="en-US" sz="1125" dirty="0">
                <a:solidFill>
                  <a:srgbClr val="15171A"/>
                </a:solidFill>
                <a:latin typeface="JetBrains Mono" pitchFamily="34" charset="0"/>
                <a:ea typeface="JetBrains Mono" pitchFamily="34" charset="-122"/>
                <a:cs typeface="JetBrains Mono" pitchFamily="34" charset="-120"/>
              </a:rPr>
              <a:t>↓</a:t>
            </a:r>
            <a:endParaRPr lang="en-US" sz="1125" dirty="0"/>
          </a:p>
        </p:txBody>
      </p:sp>
      <p:sp>
        <p:nvSpPr>
          <p:cNvPr id="10" name="Shape 8"/>
          <p:cNvSpPr/>
          <p:nvPr/>
        </p:nvSpPr>
        <p:spPr>
          <a:xfrm>
            <a:off x="952500" y="5217691"/>
            <a:ext cx="7810500" cy="842963"/>
          </a:xfrm>
          <a:prstGeom prst="rect">
            <a:avLst/>
          </a:prstGeom>
          <a:solidFill>
            <a:srgbClr val="EEE8DA"/>
          </a:solidFill>
          <a:ln w="14288">
            <a:solidFill>
              <a:srgbClr val="D8D4CB"/>
            </a:solidFill>
            <a:prstDash val="solid"/>
          </a:ln>
        </p:spPr>
      </p:sp>
      <p:sp>
        <p:nvSpPr>
          <p:cNvPr id="11" name="Text 9"/>
          <p:cNvSpPr/>
          <p:nvPr/>
        </p:nvSpPr>
        <p:spPr>
          <a:xfrm>
            <a:off x="1138238" y="5384378"/>
            <a:ext cx="7662196"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5171A"/>
                </a:solidFill>
                <a:latin typeface="Inter" pitchFamily="34" charset="0"/>
                <a:ea typeface="Inter" pitchFamily="34" charset="-122"/>
                <a:cs typeface="Inter" pitchFamily="34" charset="-120"/>
              </a:rPr>
              <a:t>AWAITING_GO → NAVIGATING</a:t>
            </a:r>
            <a:endParaRPr lang="en-US" sz="1650" dirty="0"/>
          </a:p>
        </p:txBody>
      </p:sp>
      <p:sp>
        <p:nvSpPr>
          <p:cNvPr id="12" name="Text 10"/>
          <p:cNvSpPr/>
          <p:nvPr/>
        </p:nvSpPr>
        <p:spPr>
          <a:xfrm>
            <a:off x="1138238" y="5703466"/>
            <a:ext cx="7662196" cy="228600"/>
          </a:xfrm>
          <a:prstGeom prst="rect">
            <a:avLst/>
          </a:prstGeom>
          <a:noFill/>
          <a:ln/>
        </p:spPr>
        <p:txBody>
          <a:bodyPr wrap="square" lIns="25400" tIns="25400" rIns="25400" bIns="25400" rtlCol="0" anchor="t">
            <a:normAutofit/>
          </a:bodyPr>
          <a:lstStyle/>
          <a:p>
            <a:pPr algn="l" indent="0" marL="0">
              <a:lnSpc>
                <a:spcPct val="125000"/>
              </a:lnSpc>
              <a:buNone/>
            </a:pPr>
            <a:r>
              <a:rPr lang="en-US" sz="1200" dirty="0">
                <a:solidFill>
                  <a:srgbClr val="6B6F77"/>
                </a:solidFill>
                <a:latin typeface="JetBrains Mono" pitchFamily="34" charset="0"/>
                <a:ea typeface="JetBrains Mono" pitchFamily="34" charset="-122"/>
                <a:cs typeface="JetBrains Mono" pitchFamily="34" charset="-120"/>
              </a:rPr>
              <a:t>on "proceed" → dispatch Nav2 goal[i]</a:t>
            </a:r>
            <a:endParaRPr lang="en-US" sz="1200" dirty="0"/>
          </a:p>
        </p:txBody>
      </p:sp>
      <p:sp>
        <p:nvSpPr>
          <p:cNvPr id="13" name="Text 11"/>
          <p:cNvSpPr/>
          <p:nvPr/>
        </p:nvSpPr>
        <p:spPr>
          <a:xfrm>
            <a:off x="1238250" y="6194003"/>
            <a:ext cx="7759065" cy="240953"/>
          </a:xfrm>
          <a:prstGeom prst="rect">
            <a:avLst/>
          </a:prstGeom>
          <a:noFill/>
          <a:ln/>
        </p:spPr>
        <p:txBody>
          <a:bodyPr wrap="square" lIns="25400" tIns="25400" rIns="25400" bIns="25400" rtlCol="0" anchor="ctr">
            <a:normAutofit/>
          </a:bodyPr>
          <a:lstStyle/>
          <a:p>
            <a:pPr algn="l" indent="0" marL="0">
              <a:lnSpc>
                <a:spcPct val="142000"/>
              </a:lnSpc>
              <a:buNone/>
            </a:pPr>
            <a:r>
              <a:rPr lang="en-US" sz="1125" dirty="0">
                <a:solidFill>
                  <a:srgbClr val="15171A"/>
                </a:solidFill>
                <a:latin typeface="JetBrains Mono" pitchFamily="34" charset="0"/>
                <a:ea typeface="JetBrains Mono" pitchFamily="34" charset="-122"/>
                <a:cs typeface="JetBrains Mono" pitchFamily="34" charset="-120"/>
              </a:rPr>
              <a:t>↓</a:t>
            </a:r>
            <a:endParaRPr lang="en-US" sz="1125" dirty="0"/>
          </a:p>
        </p:txBody>
      </p:sp>
      <p:sp>
        <p:nvSpPr>
          <p:cNvPr id="14" name="Shape 12"/>
          <p:cNvSpPr/>
          <p:nvPr/>
        </p:nvSpPr>
        <p:spPr>
          <a:xfrm>
            <a:off x="952500" y="6530206"/>
            <a:ext cx="7810500" cy="1033462"/>
          </a:xfrm>
          <a:prstGeom prst="rect">
            <a:avLst/>
          </a:prstGeom>
          <a:solidFill>
            <a:srgbClr val="EEE8DA"/>
          </a:solidFill>
          <a:ln/>
        </p:spPr>
      </p:sp>
      <p:sp>
        <p:nvSpPr>
          <p:cNvPr id="15" name="Shape 13"/>
          <p:cNvSpPr/>
          <p:nvPr/>
        </p:nvSpPr>
        <p:spPr>
          <a:xfrm>
            <a:off x="952500" y="7549381"/>
            <a:ext cx="7810500" cy="14288"/>
          </a:xfrm>
          <a:prstGeom prst="rect">
            <a:avLst/>
          </a:prstGeom>
          <a:solidFill>
            <a:srgbClr val="D8D4CB"/>
          </a:solidFill>
          <a:ln/>
        </p:spPr>
      </p:sp>
      <p:sp>
        <p:nvSpPr>
          <p:cNvPr id="16" name="Shape 14"/>
          <p:cNvSpPr/>
          <p:nvPr/>
        </p:nvSpPr>
        <p:spPr>
          <a:xfrm>
            <a:off x="952500" y="6530206"/>
            <a:ext cx="7810500" cy="14288"/>
          </a:xfrm>
          <a:prstGeom prst="rect">
            <a:avLst/>
          </a:prstGeom>
          <a:solidFill>
            <a:srgbClr val="D8D4CB"/>
          </a:solidFill>
          <a:ln/>
        </p:spPr>
      </p:sp>
      <p:sp>
        <p:nvSpPr>
          <p:cNvPr id="17" name="Shape 15"/>
          <p:cNvSpPr/>
          <p:nvPr/>
        </p:nvSpPr>
        <p:spPr>
          <a:xfrm>
            <a:off x="952500" y="6530206"/>
            <a:ext cx="38100" cy="1033462"/>
          </a:xfrm>
          <a:prstGeom prst="rect">
            <a:avLst/>
          </a:prstGeom>
          <a:solidFill>
            <a:srgbClr val="C41230"/>
          </a:solidFill>
          <a:ln/>
        </p:spPr>
      </p:sp>
      <p:sp>
        <p:nvSpPr>
          <p:cNvPr id="18" name="Shape 16"/>
          <p:cNvSpPr/>
          <p:nvPr/>
        </p:nvSpPr>
        <p:spPr>
          <a:xfrm>
            <a:off x="8748713" y="6530206"/>
            <a:ext cx="14288" cy="1033462"/>
          </a:xfrm>
          <a:prstGeom prst="rect">
            <a:avLst/>
          </a:prstGeom>
          <a:solidFill>
            <a:srgbClr val="D8D4CB"/>
          </a:solidFill>
          <a:ln/>
        </p:spPr>
      </p:sp>
      <p:sp>
        <p:nvSpPr>
          <p:cNvPr id="19" name="Text 17"/>
          <p:cNvSpPr/>
          <p:nvPr/>
        </p:nvSpPr>
        <p:spPr>
          <a:xfrm>
            <a:off x="1162050" y="6696894"/>
            <a:ext cx="7637669"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5171A"/>
                </a:solidFill>
                <a:latin typeface="Inter" pitchFamily="34" charset="0"/>
                <a:ea typeface="Inter" pitchFamily="34" charset="-122"/>
                <a:cs typeface="Inter" pitchFamily="34" charset="-120"/>
              </a:rPr>
              <a:t>NAVIGATING → HANDOFF</a:t>
            </a:r>
            <a:endParaRPr lang="en-US" sz="1650" dirty="0"/>
          </a:p>
        </p:txBody>
      </p:sp>
      <p:sp>
        <p:nvSpPr>
          <p:cNvPr id="20" name="Text 18"/>
          <p:cNvSpPr/>
          <p:nvPr/>
        </p:nvSpPr>
        <p:spPr>
          <a:xfrm>
            <a:off x="1162050" y="7015981"/>
            <a:ext cx="7637669" cy="419100"/>
          </a:xfrm>
          <a:prstGeom prst="rect">
            <a:avLst/>
          </a:prstGeom>
          <a:noFill/>
          <a:ln/>
        </p:spPr>
        <p:txBody>
          <a:bodyPr wrap="square" lIns="25400" tIns="25400" rIns="25400" bIns="25400" rtlCol="0" anchor="t">
            <a:normAutofit/>
          </a:bodyPr>
          <a:lstStyle/>
          <a:p>
            <a:pPr algn="l" indent="0" marL="0">
              <a:lnSpc>
                <a:spcPct val="125000"/>
              </a:lnSpc>
              <a:buNone/>
            </a:pPr>
            <a:r>
              <a:rPr lang="en-US" sz="1200" dirty="0">
                <a:solidFill>
                  <a:srgbClr val="6B6F77"/>
                </a:solidFill>
                <a:latin typeface="JetBrains Mono" pitchFamily="34" charset="0"/>
                <a:ea typeface="JetBrains Mono" pitchFamily="34" charset="-122"/>
                <a:cs typeface="JetBrains Mono" pitchFamily="34" charset="-120"/>
              </a:rPr>
              <a:t>distance ≤ STOP_DISTANCE_M (or Nav2 done early) · cancel Nav2 · publish "arrived" · i += 1</a:t>
            </a:r>
            <a:endParaRPr lang="en-US" sz="1200" dirty="0"/>
          </a:p>
        </p:txBody>
      </p:sp>
      <p:sp>
        <p:nvSpPr>
          <p:cNvPr id="21" name="Text 19"/>
          <p:cNvSpPr/>
          <p:nvPr/>
        </p:nvSpPr>
        <p:spPr>
          <a:xfrm>
            <a:off x="1238250" y="7697019"/>
            <a:ext cx="7759065" cy="240953"/>
          </a:xfrm>
          <a:prstGeom prst="rect">
            <a:avLst/>
          </a:prstGeom>
          <a:noFill/>
          <a:ln/>
        </p:spPr>
        <p:txBody>
          <a:bodyPr wrap="square" lIns="25400" tIns="25400" rIns="25400" bIns="25400" rtlCol="0" anchor="ctr">
            <a:normAutofit/>
          </a:bodyPr>
          <a:lstStyle/>
          <a:p>
            <a:pPr algn="l" indent="0" marL="0">
              <a:lnSpc>
                <a:spcPct val="142000"/>
              </a:lnSpc>
              <a:buNone/>
            </a:pPr>
            <a:r>
              <a:rPr lang="en-US" sz="1125" dirty="0">
                <a:solidFill>
                  <a:srgbClr val="15171A"/>
                </a:solidFill>
                <a:latin typeface="JetBrains Mono" pitchFamily="34" charset="0"/>
                <a:ea typeface="JetBrains Mono" pitchFamily="34" charset="-122"/>
                <a:cs typeface="JetBrains Mono" pitchFamily="34" charset="-120"/>
              </a:rPr>
              <a:t>↓</a:t>
            </a:r>
            <a:endParaRPr lang="en-US" sz="1125" dirty="0"/>
          </a:p>
        </p:txBody>
      </p:sp>
      <p:sp>
        <p:nvSpPr>
          <p:cNvPr id="22" name="Shape 20"/>
          <p:cNvSpPr/>
          <p:nvPr/>
        </p:nvSpPr>
        <p:spPr>
          <a:xfrm>
            <a:off x="952500" y="8033221"/>
            <a:ext cx="7810500" cy="842963"/>
          </a:xfrm>
          <a:prstGeom prst="rect">
            <a:avLst/>
          </a:prstGeom>
          <a:solidFill>
            <a:srgbClr val="EEE8DA"/>
          </a:solidFill>
          <a:ln w="14288">
            <a:solidFill>
              <a:srgbClr val="D8D4CB"/>
            </a:solidFill>
            <a:prstDash val="solid"/>
          </a:ln>
        </p:spPr>
      </p:sp>
      <p:sp>
        <p:nvSpPr>
          <p:cNvPr id="23" name="Text 21"/>
          <p:cNvSpPr/>
          <p:nvPr/>
        </p:nvSpPr>
        <p:spPr>
          <a:xfrm>
            <a:off x="1138238" y="8199909"/>
            <a:ext cx="7662196" cy="300038"/>
          </a:xfrm>
          <a:prstGeom prst="rect">
            <a:avLst/>
          </a:prstGeom>
          <a:noFill/>
          <a:ln/>
        </p:spPr>
        <p:txBody>
          <a:bodyPr wrap="square" lIns="25400" tIns="25400" rIns="25400" bIns="25400" rtlCol="0" anchor="t">
            <a:normAutofit/>
          </a:bodyPr>
          <a:lstStyle/>
          <a:p>
            <a:pPr algn="l" indent="0" marL="0">
              <a:lnSpc>
                <a:spcPct val="125000"/>
              </a:lnSpc>
              <a:buNone/>
            </a:pPr>
            <a:r>
              <a:rPr lang="en-US" sz="1650" b="1" dirty="0">
                <a:solidFill>
                  <a:srgbClr val="15171A"/>
                </a:solidFill>
                <a:latin typeface="Inter" pitchFamily="34" charset="0"/>
                <a:ea typeface="Inter" pitchFamily="34" charset="-122"/>
                <a:cs typeface="Inter" pitchFamily="34" charset="-120"/>
              </a:rPr>
              <a:t>HANDOFF → NAVIGATING · or IDLE</a:t>
            </a:r>
            <a:endParaRPr lang="en-US" sz="1650" dirty="0"/>
          </a:p>
        </p:txBody>
      </p:sp>
      <p:sp>
        <p:nvSpPr>
          <p:cNvPr id="24" name="Text 22"/>
          <p:cNvSpPr/>
          <p:nvPr/>
        </p:nvSpPr>
        <p:spPr>
          <a:xfrm>
            <a:off x="1138238" y="8518996"/>
            <a:ext cx="7662196" cy="228600"/>
          </a:xfrm>
          <a:prstGeom prst="rect">
            <a:avLst/>
          </a:prstGeom>
          <a:noFill/>
          <a:ln/>
        </p:spPr>
        <p:txBody>
          <a:bodyPr wrap="square" lIns="25400" tIns="25400" rIns="25400" bIns="25400" rtlCol="0" anchor="t">
            <a:normAutofit/>
          </a:bodyPr>
          <a:lstStyle/>
          <a:p>
            <a:pPr algn="l" indent="0" marL="0">
              <a:lnSpc>
                <a:spcPct val="125000"/>
              </a:lnSpc>
              <a:buNone/>
            </a:pPr>
            <a:r>
              <a:rPr lang="en-US" sz="1200" dirty="0">
                <a:solidFill>
                  <a:srgbClr val="6B6F77"/>
                </a:solidFill>
                <a:latin typeface="JetBrains Mono" pitchFamily="34" charset="0"/>
                <a:ea typeface="JetBrains Mono" pitchFamily="34" charset="-122"/>
                <a:cs typeface="JetBrains Mono" pitchFamily="34" charset="-120"/>
              </a:rPr>
              <a:t>on "proceed": re-dispatch goal[i] if i &lt; len, else return to IDLE</a:t>
            </a:r>
            <a:endParaRPr lang="en-US" sz="1200" dirty="0"/>
          </a:p>
        </p:txBody>
      </p:sp>
      <p:sp>
        <p:nvSpPr>
          <p:cNvPr id="25" name="Shape 23"/>
          <p:cNvSpPr/>
          <p:nvPr/>
        </p:nvSpPr>
        <p:spPr>
          <a:xfrm>
            <a:off x="9525000" y="2945085"/>
            <a:ext cx="7810500" cy="6437114"/>
          </a:xfrm>
          <a:prstGeom prst="rect">
            <a:avLst/>
          </a:prstGeom>
          <a:solidFill>
            <a:srgbClr val="FFFFFF"/>
          </a:solidFill>
          <a:ln w="9525">
            <a:solidFill>
              <a:srgbClr val="D8D4CB"/>
            </a:solidFill>
            <a:prstDash val="solid"/>
          </a:ln>
        </p:spPr>
      </p:sp>
      <p:sp>
        <p:nvSpPr>
          <p:cNvPr id="26" name="Shape 24"/>
          <p:cNvSpPr/>
          <p:nvPr/>
        </p:nvSpPr>
        <p:spPr>
          <a:xfrm>
            <a:off x="9667875" y="3087960"/>
            <a:ext cx="7524750" cy="5812706"/>
          </a:xfrm>
          <a:prstGeom prst="rect">
            <a:avLst/>
          </a:prstGeom>
          <a:solidFill>
            <a:srgbClr val="EEE8DA"/>
          </a:solidFill>
          <a:ln w="9525">
            <a:solidFill>
              <a:srgbClr val="D8D4CB"/>
            </a:solidFill>
            <a:prstDash val="solid"/>
          </a:ln>
        </p:spPr>
      </p:sp>
      <p:pic>
        <p:nvPicPr>
          <p:cNvPr id="27" name="Image 0" descr="preencoded.png">    </p:cNvPr>
          <p:cNvPicPr>
            <a:picLocks noChangeAspect="1"/>
          </p:cNvPicPr>
          <p:nvPr/>
        </p:nvPicPr>
        <p:blipFill>
          <a:blip r:embed="rId1"/>
          <a:stretch>
            <a:fillRect/>
          </a:stretch>
        </p:blipFill>
        <p:spPr>
          <a:xfrm>
            <a:off x="9810750" y="3230835"/>
            <a:ext cx="7239000" cy="5429250"/>
          </a:xfrm>
          <a:prstGeom prst="rect">
            <a:avLst/>
          </a:prstGeom>
        </p:spPr>
      </p:pic>
      <p:sp>
        <p:nvSpPr>
          <p:cNvPr id="28" name="Text 25"/>
          <p:cNvSpPr/>
          <p:nvPr/>
        </p:nvSpPr>
        <p:spPr>
          <a:xfrm>
            <a:off x="9667875" y="8995916"/>
            <a:ext cx="7750492"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54" kern="0" dirty="0">
                <a:solidFill>
                  <a:srgbClr val="6B6F77"/>
                </a:solidFill>
                <a:latin typeface="JetBrains Mono" pitchFamily="34" charset="0"/>
                <a:ea typeface="JetBrains Mono" pitchFamily="34" charset="-122"/>
                <a:cs typeface="JetBrains Mono" pitchFamily="34" charset="-120"/>
              </a:rPr>
              <a:t>FIG 3 · Coordinator state machine · from navigation_node.py</a:t>
            </a:r>
            <a:endParaRPr lang="en-US" sz="1350" dirty="0"/>
          </a:p>
        </p:txBody>
      </p:sp>
      <p:sp>
        <p:nvSpPr>
          <p:cNvPr id="29" name="Shape 26"/>
          <p:cNvSpPr/>
          <p:nvPr/>
        </p:nvSpPr>
        <p:spPr>
          <a:xfrm>
            <a:off x="9525000" y="9553649"/>
            <a:ext cx="7810500" cy="1219126"/>
          </a:xfrm>
          <a:prstGeom prst="rect">
            <a:avLst/>
          </a:prstGeom>
          <a:solidFill>
            <a:srgbClr val="EEE8DA"/>
          </a:solidFill>
          <a:ln/>
        </p:spPr>
      </p:sp>
      <p:sp>
        <p:nvSpPr>
          <p:cNvPr id="30" name="Shape 27"/>
          <p:cNvSpPr/>
          <p:nvPr/>
        </p:nvSpPr>
        <p:spPr>
          <a:xfrm>
            <a:off x="9525000" y="9553649"/>
            <a:ext cx="38100" cy="1219126"/>
          </a:xfrm>
          <a:prstGeom prst="rect">
            <a:avLst/>
          </a:prstGeom>
          <a:solidFill>
            <a:srgbClr val="C41230"/>
          </a:solidFill>
          <a:ln/>
        </p:spPr>
      </p:sp>
      <p:sp>
        <p:nvSpPr>
          <p:cNvPr id="31" name="Text 28"/>
          <p:cNvSpPr/>
          <p:nvPr/>
        </p:nvSpPr>
        <p:spPr>
          <a:xfrm>
            <a:off x="9753600" y="9706049"/>
            <a:ext cx="7613142" cy="308595"/>
          </a:xfrm>
          <a:prstGeom prst="rect">
            <a:avLst/>
          </a:prstGeom>
          <a:noFill/>
          <a:ln/>
        </p:spPr>
        <p:txBody>
          <a:bodyPr wrap="square" lIns="25400" tIns="25400" rIns="25400" bIns="25400" rtlCol="0" anchor="t">
            <a:normAutofit/>
          </a:bodyPr>
          <a:lstStyle/>
          <a:p>
            <a:pPr algn="l" indent="0" marL="0">
              <a:lnSpc>
                <a:spcPct val="142000"/>
              </a:lnSpc>
              <a:buNone/>
            </a:pPr>
            <a:r>
              <a:rPr lang="en-US" sz="1500" spc="60" kern="0" dirty="0">
                <a:solidFill>
                  <a:srgbClr val="6B6F77"/>
                </a:solidFill>
                <a:latin typeface="JetBrains Mono" pitchFamily="34" charset="0"/>
                <a:ea typeface="JetBrains Mono" pitchFamily="34" charset="-122"/>
                <a:cs typeface="JetBrains Mono" pitchFamily="34" charset="-120"/>
              </a:rPr>
              <a:t>KEY DESIGN CHOICE</a:t>
            </a:r>
            <a:endParaRPr lang="en-US" sz="1500" dirty="0"/>
          </a:p>
        </p:txBody>
      </p:sp>
      <p:sp>
        <p:nvSpPr>
          <p:cNvPr id="32" name="Text 29"/>
          <p:cNvSpPr/>
          <p:nvPr/>
        </p:nvSpPr>
        <p:spPr>
          <a:xfrm>
            <a:off x="9753600" y="10033695"/>
            <a:ext cx="7613142"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15171A"/>
                </a:solidFill>
                <a:latin typeface="-apple-system" pitchFamily="34" charset="0"/>
                <a:ea typeface="-apple-system" pitchFamily="34" charset="-122"/>
                <a:cs typeface="-apple-system" pitchFamily="34" charset="-120"/>
              </a:rPr>
              <a:t>Cancel Nav2 early at </a:t>
            </a:r>
            <a:pPr algn="l" indent="0" marL="0">
              <a:lnSpc>
                <a:spcPct val="140000"/>
              </a:lnSpc>
              <a:buNone/>
            </a:pPr>
            <a:r>
              <a:rPr lang="en-US" sz="1650" b="1" dirty="0">
                <a:solidFill>
                  <a:srgbClr val="15171A"/>
                </a:solidFill>
                <a:latin typeface="-apple-system" pitchFamily="34" charset="0"/>
                <a:ea typeface="-apple-system" pitchFamily="34" charset="-122"/>
                <a:cs typeface="-apple-system" pitchFamily="34" charset="-120"/>
              </a:rPr>
              <a:t>STOP_DISTANCE_M = 0.30 m </a:t>
            </a:r>
            <a:pPr algn="l" indent="0" marL="0">
              <a:lnSpc>
                <a:spcPct val="140000"/>
              </a:lnSpc>
              <a:buNone/>
            </a:pPr>
            <a:r>
              <a:rPr lang="en-US" sz="1650" dirty="0">
                <a:solidFill>
                  <a:srgbClr val="15171A"/>
                </a:solidFill>
                <a:latin typeface="-apple-system" pitchFamily="34" charset="0"/>
                <a:ea typeface="-apple-system" pitchFamily="34" charset="-122"/>
                <a:cs typeface="-apple-system" pitchFamily="34" charset="-120"/>
              </a:rPr>
              <a:t>— avoids costmap stalls near walls and keeps handoffs fast.</a:t>
            </a:r>
            <a:endParaRPr lang="en-US" sz="1650" dirty="0"/>
          </a:p>
        </p:txBody>
      </p:sp>
      <p:sp>
        <p:nvSpPr>
          <p:cNvPr id="33" name="Text 30"/>
          <p:cNvSpPr/>
          <p:nvPr/>
        </p:nvSpPr>
        <p:spPr>
          <a:xfrm>
            <a:off x="952500" y="9624492"/>
            <a:ext cx="363258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16-762 · STRETCH REARRANGEMENT</a:t>
            </a:r>
            <a:endParaRPr lang="en-US" sz="1350" dirty="0"/>
          </a:p>
        </p:txBody>
      </p:sp>
      <p:sp>
        <p:nvSpPr>
          <p:cNvPr id="34" name="Text 31"/>
          <p:cNvSpPr/>
          <p:nvPr/>
        </p:nvSpPr>
        <p:spPr>
          <a:xfrm>
            <a:off x="17117318" y="9624492"/>
            <a:ext cx="294382"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09</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8DA"/>
        </a:solidFill>
      </p:bgPr>
    </p:bg>
    <p:spTree>
      <p:nvGrpSpPr>
        <p:cNvPr id="1" name=""/>
        <p:cNvGrpSpPr/>
        <p:nvPr/>
      </p:nvGrpSpPr>
      <p:grpSpPr>
        <a:xfrm>
          <a:off x="0" y="0"/>
          <a:ext cx="0" cy="0"/>
          <a:chOff x="0" y="0"/>
          <a:chExt cx="0" cy="0"/>
        </a:xfrm>
      </p:grpSpPr>
      <p:sp>
        <p:nvSpPr>
          <p:cNvPr id="2" name="Text 0"/>
          <p:cNvSpPr/>
          <p:nvPr/>
        </p:nvSpPr>
        <p:spPr>
          <a:xfrm>
            <a:off x="952500" y="419100"/>
            <a:ext cx="294836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FIXED-POSE VISUAL GRASP</a:t>
            </a:r>
            <a:endParaRPr lang="en-US" sz="1350" dirty="0"/>
          </a:p>
        </p:txBody>
      </p:sp>
      <p:sp>
        <p:nvSpPr>
          <p:cNvPr id="3" name="Text 1"/>
          <p:cNvSpPr/>
          <p:nvPr/>
        </p:nvSpPr>
        <p:spPr>
          <a:xfrm>
            <a:off x="16715110" y="419100"/>
            <a:ext cx="696590"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10 / 12</a:t>
            </a:r>
            <a:endParaRPr lang="en-US" sz="1350" dirty="0"/>
          </a:p>
        </p:txBody>
      </p:sp>
      <p:sp>
        <p:nvSpPr>
          <p:cNvPr id="4" name="Text 2"/>
          <p:cNvSpPr/>
          <p:nvPr/>
        </p:nvSpPr>
        <p:spPr>
          <a:xfrm>
            <a:off x="952500" y="1809750"/>
            <a:ext cx="16874490" cy="335607"/>
          </a:xfrm>
          <a:prstGeom prst="rect">
            <a:avLst/>
          </a:prstGeom>
          <a:noFill/>
          <a:ln/>
        </p:spPr>
        <p:txBody>
          <a:bodyPr wrap="square" lIns="25400" tIns="25400" rIns="25400" bIns="25400" rtlCol="0" anchor="ctr">
            <a:normAutofit/>
          </a:bodyPr>
          <a:lstStyle/>
          <a:p>
            <a:pPr algn="l" indent="0" marL="0">
              <a:lnSpc>
                <a:spcPct val="142000"/>
              </a:lnSpc>
              <a:buNone/>
            </a:pPr>
            <a:r>
              <a:rPr lang="en-US" sz="1650" b="1" spc="264" kern="0" dirty="0">
                <a:solidFill>
                  <a:srgbClr val="C41230"/>
                </a:solidFill>
                <a:latin typeface="-apple-system" pitchFamily="34" charset="0"/>
                <a:ea typeface="-apple-system" pitchFamily="34" charset="-122"/>
                <a:cs typeface="-apple-system" pitchFamily="34" charset="-120"/>
              </a:rPr>
              <a:t>FIXED READY POSE → GRIPPER D405 SERVO</a:t>
            </a:r>
            <a:endParaRPr lang="en-US" sz="1650" dirty="0"/>
          </a:p>
        </p:txBody>
      </p:sp>
      <p:sp>
        <p:nvSpPr>
          <p:cNvPr id="5" name="Text 3"/>
          <p:cNvSpPr/>
          <p:nvPr/>
        </p:nvSpPr>
        <p:spPr>
          <a:xfrm>
            <a:off x="952500" y="2373957"/>
            <a:ext cx="16874490" cy="678135"/>
          </a:xfrm>
          <a:prstGeom prst="rect">
            <a:avLst/>
          </a:prstGeom>
          <a:noFill/>
          <a:ln/>
        </p:spPr>
        <p:txBody>
          <a:bodyPr wrap="square" lIns="25400" tIns="25400" rIns="25400" bIns="25400" rtlCol="0" anchor="t">
            <a:normAutofit/>
          </a:bodyPr>
          <a:lstStyle/>
          <a:p>
            <a:pPr algn="l" indent="0" marL="0">
              <a:lnSpc>
                <a:spcPct val="105000"/>
              </a:lnSpc>
              <a:buNone/>
            </a:pPr>
            <a:r>
              <a:rPr lang="en-US" sz="4800" b="1" spc="-72" kern="0" dirty="0">
                <a:solidFill>
                  <a:srgbClr val="15171A"/>
                </a:solidFill>
                <a:latin typeface="Source Serif 4" pitchFamily="34" charset="0"/>
                <a:ea typeface="Source Serif 4" pitchFamily="34" charset="-122"/>
                <a:cs typeface="Source Serif 4" pitchFamily="34" charset="-120"/>
              </a:rPr>
              <a:t>Pre-pose the arm, then servo with the hand.</a:t>
            </a:r>
            <a:endParaRPr lang="en-US" sz="4800" dirty="0"/>
          </a:p>
        </p:txBody>
      </p:sp>
      <p:sp>
        <p:nvSpPr>
          <p:cNvPr id="6" name="Shape 4"/>
          <p:cNvSpPr/>
          <p:nvPr/>
        </p:nvSpPr>
        <p:spPr>
          <a:xfrm>
            <a:off x="952500" y="3509293"/>
            <a:ext cx="7810500" cy="7035329"/>
          </a:xfrm>
          <a:prstGeom prst="rect">
            <a:avLst/>
          </a:prstGeom>
          <a:solidFill>
            <a:srgbClr val="FFFFFF"/>
          </a:solidFill>
          <a:ln/>
        </p:spPr>
      </p:sp>
      <p:sp>
        <p:nvSpPr>
          <p:cNvPr id="7" name="Shape 5"/>
          <p:cNvSpPr/>
          <p:nvPr/>
        </p:nvSpPr>
        <p:spPr>
          <a:xfrm>
            <a:off x="952500" y="10535096"/>
            <a:ext cx="7810500" cy="9525"/>
          </a:xfrm>
          <a:prstGeom prst="rect">
            <a:avLst/>
          </a:prstGeom>
          <a:solidFill>
            <a:srgbClr val="D8D4CB"/>
          </a:solidFill>
          <a:ln/>
        </p:spPr>
      </p:sp>
      <p:sp>
        <p:nvSpPr>
          <p:cNvPr id="8" name="Shape 6"/>
          <p:cNvSpPr/>
          <p:nvPr/>
        </p:nvSpPr>
        <p:spPr>
          <a:xfrm>
            <a:off x="952500" y="3509293"/>
            <a:ext cx="7810500" cy="57150"/>
          </a:xfrm>
          <a:prstGeom prst="rect">
            <a:avLst/>
          </a:prstGeom>
          <a:solidFill>
            <a:srgbClr val="2A5D7A"/>
          </a:solidFill>
          <a:ln/>
        </p:spPr>
      </p:sp>
      <p:sp>
        <p:nvSpPr>
          <p:cNvPr id="9" name="Shape 7"/>
          <p:cNvSpPr/>
          <p:nvPr/>
        </p:nvSpPr>
        <p:spPr>
          <a:xfrm>
            <a:off x="952500" y="3509293"/>
            <a:ext cx="9525" cy="7035329"/>
          </a:xfrm>
          <a:prstGeom prst="rect">
            <a:avLst/>
          </a:prstGeom>
          <a:solidFill>
            <a:srgbClr val="D8D4CB"/>
          </a:solidFill>
          <a:ln/>
        </p:spPr>
      </p:sp>
      <p:sp>
        <p:nvSpPr>
          <p:cNvPr id="10" name="Shape 8"/>
          <p:cNvSpPr/>
          <p:nvPr/>
        </p:nvSpPr>
        <p:spPr>
          <a:xfrm>
            <a:off x="8753475" y="3509293"/>
            <a:ext cx="9525" cy="7035329"/>
          </a:xfrm>
          <a:prstGeom prst="rect">
            <a:avLst/>
          </a:prstGeom>
          <a:solidFill>
            <a:srgbClr val="D8D4CB"/>
          </a:solidFill>
          <a:ln/>
        </p:spPr>
      </p:sp>
      <p:sp>
        <p:nvSpPr>
          <p:cNvPr id="11" name="Text 9"/>
          <p:cNvSpPr/>
          <p:nvPr/>
        </p:nvSpPr>
        <p:spPr>
          <a:xfrm>
            <a:off x="1266825" y="3833143"/>
            <a:ext cx="7397306" cy="308595"/>
          </a:xfrm>
          <a:prstGeom prst="rect">
            <a:avLst/>
          </a:prstGeom>
          <a:noFill/>
          <a:ln/>
        </p:spPr>
        <p:txBody>
          <a:bodyPr wrap="square" lIns="25400" tIns="25400" rIns="25400" bIns="25400" rtlCol="0" anchor="t">
            <a:normAutofit/>
          </a:bodyPr>
          <a:lstStyle/>
          <a:p>
            <a:pPr algn="l" indent="0" marL="0">
              <a:lnSpc>
                <a:spcPct val="142000"/>
              </a:lnSpc>
              <a:buNone/>
            </a:pPr>
            <a:r>
              <a:rPr lang="en-US" sz="1500" spc="60" kern="0" dirty="0">
                <a:solidFill>
                  <a:srgbClr val="2A5D7A"/>
                </a:solidFill>
                <a:latin typeface="JetBrains Mono" pitchFamily="34" charset="0"/>
                <a:ea typeface="JetBrains Mono" pitchFamily="34" charset="-122"/>
                <a:cs typeface="JetBrains Mono" pitchFamily="34" charset="-120"/>
              </a:rPr>
              <a:t>STAGE 1 · FIXED READY POSE</a:t>
            </a:r>
            <a:endParaRPr lang="en-US" sz="1500" dirty="0"/>
          </a:p>
        </p:txBody>
      </p:sp>
      <p:sp>
        <p:nvSpPr>
          <p:cNvPr id="12" name="Text 10"/>
          <p:cNvSpPr/>
          <p:nvPr/>
        </p:nvSpPr>
        <p:spPr>
          <a:xfrm>
            <a:off x="1266825" y="4198888"/>
            <a:ext cx="7397306" cy="497904"/>
          </a:xfrm>
          <a:prstGeom prst="rect">
            <a:avLst/>
          </a:prstGeom>
          <a:noFill/>
          <a:ln/>
        </p:spPr>
        <p:txBody>
          <a:bodyPr wrap="square" lIns="25400" tIns="25400" rIns="25400" bIns="25400" rtlCol="0" anchor="t">
            <a:normAutofit/>
          </a:bodyPr>
          <a:lstStyle/>
          <a:p>
            <a:pPr algn="l" indent="0" marL="0">
              <a:lnSpc>
                <a:spcPct val="142000"/>
              </a:lnSpc>
              <a:buNone/>
            </a:pPr>
            <a:r>
              <a:rPr lang="en-US" sz="2550" b="1" spc="-13" kern="0" dirty="0">
                <a:solidFill>
                  <a:srgbClr val="15171A"/>
                </a:solidFill>
                <a:latin typeface="Inter" pitchFamily="34" charset="0"/>
                <a:ea typeface="Inter" pitchFamily="34" charset="-122"/>
                <a:cs typeface="Inter" pitchFamily="34" charset="-120"/>
              </a:rPr>
              <a:t>Open-loop arm pre-position</a:t>
            </a:r>
            <a:endParaRPr lang="en-US" sz="2550" dirty="0"/>
          </a:p>
        </p:txBody>
      </p:sp>
      <p:sp>
        <p:nvSpPr>
          <p:cNvPr id="13" name="Text 11"/>
          <p:cNvSpPr/>
          <p:nvPr/>
        </p:nvSpPr>
        <p:spPr>
          <a:xfrm>
            <a:off x="1266825" y="4792042"/>
            <a:ext cx="7397306" cy="918121"/>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3A3E45"/>
                </a:solidFill>
                <a:latin typeface="-apple-system" pitchFamily="34" charset="0"/>
                <a:ea typeface="-apple-system" pitchFamily="34" charset="-122"/>
                <a:cs typeface="-apple-system" pitchFamily="34" charset="-120"/>
              </a:rPr>
              <a:t>Every pick starts the same: the arm is driven to a </a:t>
            </a:r>
            <a:pPr algn="l" indent="0" marL="0">
              <a:lnSpc>
                <a:spcPct val="140000"/>
              </a:lnSpc>
              <a:buNone/>
            </a:pPr>
            <a:r>
              <a:rPr lang="en-US" sz="1650" b="1" dirty="0">
                <a:solidFill>
                  <a:srgbClr val="3A3E45"/>
                </a:solidFill>
                <a:latin typeface="-apple-system" pitchFamily="34" charset="0"/>
                <a:ea typeface="-apple-system" pitchFamily="34" charset="-122"/>
                <a:cs typeface="-apple-system" pitchFamily="34" charset="-120"/>
              </a:rPr>
              <a:t>single hard-coded joint configuration </a:t>
            </a:r>
            <a:pPr algn="l" indent="0" marL="0">
              <a:lnSpc>
                <a:spcPct val="140000"/>
              </a:lnSpc>
              <a:buNone/>
            </a:pPr>
            <a:r>
              <a:rPr lang="en-US" sz="1650" dirty="0">
                <a:solidFill>
                  <a:srgbClr val="3A3E45"/>
                </a:solidFill>
                <a:latin typeface="-apple-system" pitchFamily="34" charset="0"/>
                <a:ea typeface="-apple-system" pitchFamily="34" charset="-122"/>
                <a:cs typeface="-apple-system" pitchFamily="34" charset="-120"/>
              </a:rPr>
              <a:t>that points the gripper — and the D405 — toward the object on the surface.</a:t>
            </a:r>
            <a:endParaRPr lang="en-US" sz="1650" dirty="0"/>
          </a:p>
        </p:txBody>
      </p:sp>
      <p:sp>
        <p:nvSpPr>
          <p:cNvPr id="14" name="Shape 12"/>
          <p:cNvSpPr/>
          <p:nvPr/>
        </p:nvSpPr>
        <p:spPr>
          <a:xfrm>
            <a:off x="1266825" y="5843513"/>
            <a:ext cx="7181850" cy="4048125"/>
          </a:xfrm>
          <a:prstGeom prst="rect">
            <a:avLst/>
          </a:prstGeom>
          <a:solidFill>
            <a:srgbClr val="111111"/>
          </a:solidFill>
          <a:ln w="9525">
            <a:solidFill>
              <a:srgbClr val="D8D4CB"/>
            </a:solidFill>
            <a:prstDash val="solid"/>
          </a:ln>
        </p:spPr>
      </p:sp>
      <p:pic>
        <p:nvPicPr>
          <p:cNvPr id="15" name="Image 0" descr="preencoded.png">    </p:cNvPr>
          <p:cNvPicPr>
            <a:picLocks noChangeAspect="1"/>
          </p:cNvPicPr>
          <p:nvPr/>
        </p:nvPicPr>
        <p:blipFill>
          <a:blip r:embed="rId1"/>
          <a:srcRect l="0" r="0" t="0" b="0"/>
          <a:stretch/>
        </p:blipFill>
        <p:spPr>
          <a:xfrm>
            <a:off x="1276350" y="5853038"/>
            <a:ext cx="7162800" cy="4029075"/>
          </a:xfrm>
          <a:prstGeom prst="rect">
            <a:avLst/>
          </a:prstGeom>
        </p:spPr>
      </p:pic>
      <p:sp>
        <p:nvSpPr>
          <p:cNvPr id="16" name="Text 13"/>
          <p:cNvSpPr/>
          <p:nvPr/>
        </p:nvSpPr>
        <p:spPr>
          <a:xfrm>
            <a:off x="1266825" y="10024988"/>
            <a:ext cx="7397306"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3A3E45"/>
                </a:solidFill>
                <a:latin typeface="JetBrains Mono" pitchFamily="34" charset="0"/>
                <a:ea typeface="JetBrains Mono" pitchFamily="34" charset="-122"/>
                <a:cs typeface="JetBrains Mono" pitchFamily="34" charset="-120"/>
              </a:rPr>
              <a:t>lift = 0.90 m · extension = 0.10 m · wrist_pitch = -π/2</a:t>
            </a:r>
            <a:endParaRPr lang="en-US" sz="1350" dirty="0"/>
          </a:p>
        </p:txBody>
      </p:sp>
      <p:sp>
        <p:nvSpPr>
          <p:cNvPr id="17" name="Text 14"/>
          <p:cNvSpPr/>
          <p:nvPr/>
        </p:nvSpPr>
        <p:spPr>
          <a:xfrm>
            <a:off x="8820150" y="3509293"/>
            <a:ext cx="647700" cy="7073429"/>
          </a:xfrm>
          <a:prstGeom prst="rect">
            <a:avLst/>
          </a:prstGeom>
          <a:noFill/>
          <a:ln/>
        </p:spPr>
        <p:txBody>
          <a:bodyPr wrap="square" lIns="25400" tIns="25400" rIns="25400" bIns="25400" rtlCol="0" anchor="ctr">
            <a:normAutofit/>
          </a:bodyPr>
          <a:lstStyle/>
          <a:p>
            <a:pPr algn="ctr" indent="0" marL="0">
              <a:lnSpc>
                <a:spcPct val="142000"/>
              </a:lnSpc>
              <a:buNone/>
            </a:pPr>
            <a:r>
              <a:rPr lang="en-US" sz="3150" dirty="0">
                <a:solidFill>
                  <a:srgbClr val="C41230"/>
                </a:solidFill>
                <a:latin typeface="JetBrains Mono" pitchFamily="34" charset="0"/>
                <a:ea typeface="JetBrains Mono" pitchFamily="34" charset="-122"/>
                <a:cs typeface="JetBrains Mono" pitchFamily="34" charset="-120"/>
              </a:rPr>
              <a:t>→</a:t>
            </a:r>
            <a:endParaRPr lang="en-US" sz="3150" dirty="0"/>
          </a:p>
        </p:txBody>
      </p:sp>
      <p:sp>
        <p:nvSpPr>
          <p:cNvPr id="18" name="Shape 15"/>
          <p:cNvSpPr/>
          <p:nvPr/>
        </p:nvSpPr>
        <p:spPr>
          <a:xfrm>
            <a:off x="9525000" y="3509293"/>
            <a:ext cx="7810500" cy="7035329"/>
          </a:xfrm>
          <a:prstGeom prst="rect">
            <a:avLst/>
          </a:prstGeom>
          <a:solidFill>
            <a:srgbClr val="FFFFFF"/>
          </a:solidFill>
          <a:ln/>
        </p:spPr>
      </p:sp>
      <p:sp>
        <p:nvSpPr>
          <p:cNvPr id="19" name="Shape 16"/>
          <p:cNvSpPr/>
          <p:nvPr/>
        </p:nvSpPr>
        <p:spPr>
          <a:xfrm>
            <a:off x="9525000" y="10535096"/>
            <a:ext cx="7810500" cy="9525"/>
          </a:xfrm>
          <a:prstGeom prst="rect">
            <a:avLst/>
          </a:prstGeom>
          <a:solidFill>
            <a:srgbClr val="D8D4CB"/>
          </a:solidFill>
          <a:ln/>
        </p:spPr>
      </p:sp>
      <p:sp>
        <p:nvSpPr>
          <p:cNvPr id="20" name="Shape 17"/>
          <p:cNvSpPr/>
          <p:nvPr/>
        </p:nvSpPr>
        <p:spPr>
          <a:xfrm>
            <a:off x="9525000" y="3509293"/>
            <a:ext cx="7810500" cy="57150"/>
          </a:xfrm>
          <a:prstGeom prst="rect">
            <a:avLst/>
          </a:prstGeom>
          <a:solidFill>
            <a:srgbClr val="C67A2F"/>
          </a:solidFill>
          <a:ln/>
        </p:spPr>
      </p:sp>
      <p:sp>
        <p:nvSpPr>
          <p:cNvPr id="21" name="Shape 18"/>
          <p:cNvSpPr/>
          <p:nvPr/>
        </p:nvSpPr>
        <p:spPr>
          <a:xfrm>
            <a:off x="9525000" y="3509293"/>
            <a:ext cx="9525" cy="7035329"/>
          </a:xfrm>
          <a:prstGeom prst="rect">
            <a:avLst/>
          </a:prstGeom>
          <a:solidFill>
            <a:srgbClr val="D8D4CB"/>
          </a:solidFill>
          <a:ln/>
        </p:spPr>
      </p:sp>
      <p:sp>
        <p:nvSpPr>
          <p:cNvPr id="22" name="Shape 19"/>
          <p:cNvSpPr/>
          <p:nvPr/>
        </p:nvSpPr>
        <p:spPr>
          <a:xfrm>
            <a:off x="17325975" y="3509293"/>
            <a:ext cx="9525" cy="7035329"/>
          </a:xfrm>
          <a:prstGeom prst="rect">
            <a:avLst/>
          </a:prstGeom>
          <a:solidFill>
            <a:srgbClr val="D8D4CB"/>
          </a:solidFill>
          <a:ln/>
        </p:spPr>
      </p:sp>
      <p:sp>
        <p:nvSpPr>
          <p:cNvPr id="23" name="Text 20"/>
          <p:cNvSpPr/>
          <p:nvPr/>
        </p:nvSpPr>
        <p:spPr>
          <a:xfrm>
            <a:off x="9839325" y="3833143"/>
            <a:ext cx="7397306" cy="308595"/>
          </a:xfrm>
          <a:prstGeom prst="rect">
            <a:avLst/>
          </a:prstGeom>
          <a:noFill/>
          <a:ln/>
        </p:spPr>
        <p:txBody>
          <a:bodyPr wrap="square" lIns="25400" tIns="25400" rIns="25400" bIns="25400" rtlCol="0" anchor="t">
            <a:normAutofit/>
          </a:bodyPr>
          <a:lstStyle/>
          <a:p>
            <a:pPr algn="l" indent="0" marL="0">
              <a:lnSpc>
                <a:spcPct val="142000"/>
              </a:lnSpc>
              <a:buNone/>
            </a:pPr>
            <a:r>
              <a:rPr lang="en-US" sz="1500" spc="60" kern="0" dirty="0">
                <a:solidFill>
                  <a:srgbClr val="C67A2F"/>
                </a:solidFill>
                <a:latin typeface="JetBrains Mono" pitchFamily="34" charset="0"/>
                <a:ea typeface="JetBrains Mono" pitchFamily="34" charset="-122"/>
                <a:cs typeface="JetBrains Mono" pitchFamily="34" charset="-120"/>
              </a:rPr>
              <a:t>STAGE 2 · GRIPPER-CAMERA SERVO</a:t>
            </a:r>
            <a:endParaRPr lang="en-US" sz="1500" dirty="0"/>
          </a:p>
        </p:txBody>
      </p:sp>
      <p:sp>
        <p:nvSpPr>
          <p:cNvPr id="24" name="Text 21"/>
          <p:cNvSpPr/>
          <p:nvPr/>
        </p:nvSpPr>
        <p:spPr>
          <a:xfrm>
            <a:off x="9839325" y="4198888"/>
            <a:ext cx="7397306" cy="497904"/>
          </a:xfrm>
          <a:prstGeom prst="rect">
            <a:avLst/>
          </a:prstGeom>
          <a:noFill/>
          <a:ln/>
        </p:spPr>
        <p:txBody>
          <a:bodyPr wrap="square" lIns="25400" tIns="25400" rIns="25400" bIns="25400" rtlCol="0" anchor="t">
            <a:normAutofit/>
          </a:bodyPr>
          <a:lstStyle/>
          <a:p>
            <a:pPr algn="l" indent="0" marL="0">
              <a:lnSpc>
                <a:spcPct val="142000"/>
              </a:lnSpc>
              <a:buNone/>
            </a:pPr>
            <a:r>
              <a:rPr lang="en-US" sz="2550" b="1" spc="-13" kern="0" dirty="0">
                <a:solidFill>
                  <a:srgbClr val="15171A"/>
                </a:solidFill>
                <a:latin typeface="Inter" pitchFamily="34" charset="0"/>
                <a:ea typeface="Inter" pitchFamily="34" charset="-122"/>
                <a:cs typeface="Inter" pitchFamily="34" charset="-120"/>
              </a:rPr>
              <a:t>visual_grasp_node</a:t>
            </a:r>
            <a:endParaRPr lang="en-US" sz="2550" dirty="0"/>
          </a:p>
        </p:txBody>
      </p:sp>
      <p:sp>
        <p:nvSpPr>
          <p:cNvPr id="25" name="Text 22"/>
          <p:cNvSpPr/>
          <p:nvPr/>
        </p:nvSpPr>
        <p:spPr>
          <a:xfrm>
            <a:off x="9839325" y="4792042"/>
            <a:ext cx="7397306"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3A3E45"/>
                </a:solidFill>
                <a:latin typeface="-apple-system" pitchFamily="34" charset="0"/>
                <a:ea typeface="-apple-system" pitchFamily="34" charset="-122"/>
                <a:cs typeface="-apple-system" pitchFamily="34" charset="-120"/>
              </a:rPr>
              <a:t>D405 publishes a refined pose in </a:t>
            </a:r>
            <a:pPr algn="l" indent="0" marL="0">
              <a:lnSpc>
                <a:spcPct val="140000"/>
              </a:lnSpc>
              <a:buNone/>
            </a:pPr>
            <a:r>
              <a:rPr lang="en-US" sz="1650" dirty="0">
                <a:solidFill>
                  <a:srgbClr val="3A3E45"/>
                </a:solidFill>
                <a:latin typeface="JetBrains Mono" pitchFamily="34" charset="0"/>
                <a:ea typeface="JetBrains Mono" pitchFamily="34" charset="-122"/>
                <a:cs typeface="JetBrains Mono" pitchFamily="34" charset="-120"/>
              </a:rPr>
              <a:t>base_link </a:t>
            </a:r>
            <a:pPr algn="l" indent="0" marL="0">
              <a:lnSpc>
                <a:spcPct val="140000"/>
              </a:lnSpc>
              <a:buNone/>
            </a:pPr>
            <a:r>
              <a:rPr lang="en-US" sz="1650" dirty="0">
                <a:solidFill>
                  <a:srgbClr val="3A3E45"/>
                </a:solidFill>
                <a:latin typeface="-apple-system" pitchFamily="34" charset="0"/>
                <a:ea typeface="-apple-system" pitchFamily="34" charset="-122"/>
                <a:cs typeface="-apple-system" pitchFamily="34" charset="-120"/>
              </a:rPr>
              <a:t>; IK-step the gripper toward it until within </a:t>
            </a:r>
            <a:pPr algn="l" indent="0" marL="0">
              <a:lnSpc>
                <a:spcPct val="140000"/>
              </a:lnSpc>
              <a:buNone/>
            </a:pPr>
            <a:r>
              <a:rPr lang="en-US" sz="1650" b="1" dirty="0">
                <a:solidFill>
                  <a:srgbClr val="3A3E45"/>
                </a:solidFill>
                <a:latin typeface="-apple-system" pitchFamily="34" charset="0"/>
                <a:ea typeface="-apple-system" pitchFamily="34" charset="-122"/>
                <a:cs typeface="-apple-system" pitchFamily="34" charset="-120"/>
              </a:rPr>
              <a:t>6 cm</a:t>
            </a:r>
            <a:pPr algn="l" indent="0" marL="0">
              <a:lnSpc>
                <a:spcPct val="140000"/>
              </a:lnSpc>
              <a:buNone/>
            </a:pPr>
            <a:r>
              <a:rPr lang="en-US" sz="1650" dirty="0">
                <a:solidFill>
                  <a:srgbClr val="3A3E45"/>
                </a:solidFill>
                <a:latin typeface="-apple-system" pitchFamily="34" charset="0"/>
                <a:ea typeface="-apple-system" pitchFamily="34" charset="-122"/>
                <a:cs typeface="-apple-system" pitchFamily="34" charset="-120"/>
              </a:rPr>
              <a:t>, apply grasp offset, close, retract.</a:t>
            </a:r>
            <a:endParaRPr lang="en-US" sz="1650" dirty="0"/>
          </a:p>
        </p:txBody>
      </p:sp>
      <p:sp>
        <p:nvSpPr>
          <p:cNvPr id="26" name="Shape 23"/>
          <p:cNvSpPr/>
          <p:nvPr/>
        </p:nvSpPr>
        <p:spPr>
          <a:xfrm>
            <a:off x="9839325" y="5550173"/>
            <a:ext cx="7181850" cy="4048125"/>
          </a:xfrm>
          <a:prstGeom prst="rect">
            <a:avLst/>
          </a:prstGeom>
          <a:solidFill>
            <a:srgbClr val="111111"/>
          </a:solidFill>
          <a:ln w="9525">
            <a:solidFill>
              <a:srgbClr val="D8D4CB"/>
            </a:solidFill>
            <a:prstDash val="solid"/>
          </a:ln>
        </p:spPr>
      </p:sp>
      <p:pic>
        <p:nvPicPr>
          <p:cNvPr id="27" name="Image 1" descr="preencoded.png">    </p:cNvPr>
          <p:cNvPicPr>
            <a:picLocks noChangeAspect="1"/>
          </p:cNvPicPr>
          <p:nvPr/>
        </p:nvPicPr>
        <p:blipFill>
          <a:blip r:embed="rId2"/>
          <a:srcRect l="0" r="0" t="0" b="0"/>
          <a:stretch/>
        </p:blipFill>
        <p:spPr>
          <a:xfrm>
            <a:off x="9848850" y="5559698"/>
            <a:ext cx="7162800" cy="4029075"/>
          </a:xfrm>
          <a:prstGeom prst="rect">
            <a:avLst/>
          </a:prstGeom>
        </p:spPr>
      </p:pic>
      <p:sp>
        <p:nvSpPr>
          <p:cNvPr id="28" name="Text 24"/>
          <p:cNvSpPr/>
          <p:nvPr/>
        </p:nvSpPr>
        <p:spPr>
          <a:xfrm>
            <a:off x="9839325" y="9731648"/>
            <a:ext cx="7397306"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dirty="0">
                <a:solidFill>
                  <a:srgbClr val="3A3E45"/>
                </a:solidFill>
                <a:latin typeface="JetBrains Mono" pitchFamily="34" charset="0"/>
                <a:ea typeface="JetBrains Mono" pitchFamily="34" charset="-122"/>
                <a:cs typeface="JetBrains Mono" pitchFamily="34" charset="-120"/>
              </a:rPr>
              <a:t>δ = 0.06 m · shift = [0.04, -0.03, 0.03]</a:t>
            </a:r>
            <a:endParaRPr lang="en-US" sz="1350" dirty="0"/>
          </a:p>
        </p:txBody>
      </p:sp>
      <p:sp>
        <p:nvSpPr>
          <p:cNvPr id="29" name="Shape 25"/>
          <p:cNvSpPr/>
          <p:nvPr/>
        </p:nvSpPr>
        <p:spPr>
          <a:xfrm>
            <a:off x="952500" y="10830371"/>
            <a:ext cx="16383000" cy="19050"/>
          </a:xfrm>
          <a:prstGeom prst="rect">
            <a:avLst/>
          </a:prstGeom>
          <a:solidFill>
            <a:srgbClr val="15171A">
              <a:alpha val="22000"/>
            </a:srgbClr>
          </a:solidFill>
          <a:ln/>
        </p:spPr>
      </p:sp>
      <p:sp>
        <p:nvSpPr>
          <p:cNvPr id="30" name="Text 26"/>
          <p:cNvSpPr/>
          <p:nvPr/>
        </p:nvSpPr>
        <p:spPr>
          <a:xfrm>
            <a:off x="952500" y="11058971"/>
            <a:ext cx="16874490"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6B6F77"/>
                </a:solidFill>
                <a:latin typeface="-apple-system" pitchFamily="34" charset="0"/>
                <a:ea typeface="-apple-system" pitchFamily="34" charset="-122"/>
                <a:cs typeface="-apple-system" pitchFamily="34" charset="-120"/>
              </a:rPr>
              <a:t>Why a fixed pose? Because Nav2 already places the base within a known tolerance of each pick anchor, an open-loop ready pose gets the object reliably into the D405 FOV without needing head-camera IK — then closed-loop visual servoing handles the last few centimeters.</a:t>
            </a:r>
            <a:endParaRPr lang="en-US" sz="1650" dirty="0"/>
          </a:p>
        </p:txBody>
      </p:sp>
      <p:sp>
        <p:nvSpPr>
          <p:cNvPr id="31" name="Text 27"/>
          <p:cNvSpPr/>
          <p:nvPr/>
        </p:nvSpPr>
        <p:spPr>
          <a:xfrm>
            <a:off x="952500" y="9624492"/>
            <a:ext cx="363258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16-762 · STRETCH REARRANGEMENT</a:t>
            </a:r>
            <a:endParaRPr lang="en-US" sz="1350" dirty="0"/>
          </a:p>
        </p:txBody>
      </p:sp>
      <p:sp>
        <p:nvSpPr>
          <p:cNvPr id="32" name="Text 28"/>
          <p:cNvSpPr/>
          <p:nvPr/>
        </p:nvSpPr>
        <p:spPr>
          <a:xfrm>
            <a:off x="17117318" y="9624492"/>
            <a:ext cx="294382"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6B6F77"/>
                </a:solidFill>
                <a:latin typeface="-apple-system" pitchFamily="34" charset="0"/>
                <a:ea typeface="-apple-system" pitchFamily="34" charset="-122"/>
                <a:cs typeface="-apple-system" pitchFamily="34" charset="-120"/>
              </a:rPr>
              <a:t>10</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C1F"/>
        </a:solidFill>
      </p:bgPr>
    </p:bg>
    <p:spTree>
      <p:nvGrpSpPr>
        <p:cNvPr id="1" name=""/>
        <p:cNvGrpSpPr/>
        <p:nvPr/>
      </p:nvGrpSpPr>
      <p:grpSpPr>
        <a:xfrm>
          <a:off x="0" y="0"/>
          <a:ext cx="0" cy="0"/>
          <a:chOff x="0" y="0"/>
          <a:chExt cx="0" cy="0"/>
        </a:xfrm>
      </p:grpSpPr>
      <p:sp>
        <p:nvSpPr>
          <p:cNvPr id="2" name="Text 0"/>
          <p:cNvSpPr/>
          <p:nvPr/>
        </p:nvSpPr>
        <p:spPr>
          <a:xfrm>
            <a:off x="762000" y="419100"/>
            <a:ext cx="1342876"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FFFFFF">
                    <a:alpha val="55000"/>
                  </a:srgbClr>
                </a:solidFill>
                <a:latin typeface="-apple-system" pitchFamily="34" charset="0"/>
                <a:ea typeface="-apple-system" pitchFamily="34" charset="-122"/>
                <a:cs typeface="-apple-system" pitchFamily="34" charset="-120"/>
              </a:rPr>
              <a:t>LIVE DEMO</a:t>
            </a:r>
            <a:endParaRPr lang="en-US" sz="1350" dirty="0"/>
          </a:p>
        </p:txBody>
      </p:sp>
      <p:sp>
        <p:nvSpPr>
          <p:cNvPr id="3" name="Text 1"/>
          <p:cNvSpPr/>
          <p:nvPr/>
        </p:nvSpPr>
        <p:spPr>
          <a:xfrm>
            <a:off x="16918335" y="419100"/>
            <a:ext cx="683865"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FFFFFF">
                    <a:alpha val="55000"/>
                  </a:srgbClr>
                </a:solidFill>
                <a:latin typeface="-apple-system" pitchFamily="34" charset="0"/>
                <a:ea typeface="-apple-system" pitchFamily="34" charset="-122"/>
                <a:cs typeface="-apple-system" pitchFamily="34" charset="-120"/>
              </a:rPr>
              <a:t>11 / 12</a:t>
            </a:r>
            <a:endParaRPr lang="en-US" sz="1350" dirty="0"/>
          </a:p>
        </p:txBody>
      </p:sp>
      <p:sp>
        <p:nvSpPr>
          <p:cNvPr id="4" name="Text 2"/>
          <p:cNvSpPr/>
          <p:nvPr/>
        </p:nvSpPr>
        <p:spPr>
          <a:xfrm>
            <a:off x="762000" y="1243013"/>
            <a:ext cx="6395613" cy="335607"/>
          </a:xfrm>
          <a:prstGeom prst="rect">
            <a:avLst/>
          </a:prstGeom>
          <a:noFill/>
          <a:ln/>
        </p:spPr>
        <p:txBody>
          <a:bodyPr wrap="square" lIns="25400" tIns="25400" rIns="25400" bIns="25400" rtlCol="0" anchor="ctr">
            <a:normAutofit/>
          </a:bodyPr>
          <a:lstStyle/>
          <a:p>
            <a:pPr algn="l" indent="0" marL="0">
              <a:lnSpc>
                <a:spcPct val="142000"/>
              </a:lnSpc>
              <a:buNone/>
            </a:pPr>
            <a:r>
              <a:rPr lang="en-US" sz="1650" b="1" spc="264" kern="0" dirty="0">
                <a:solidFill>
                  <a:srgbClr val="E8B4B8"/>
                </a:solidFill>
                <a:latin typeface="-apple-system" pitchFamily="34" charset="0"/>
                <a:ea typeface="-apple-system" pitchFamily="34" charset="-122"/>
                <a:cs typeface="-apple-system" pitchFamily="34" charset="-120"/>
              </a:rPr>
              <a:t>END-TO-END RUN · REAL HARDWARE</a:t>
            </a:r>
            <a:endParaRPr lang="en-US" sz="1650" dirty="0"/>
          </a:p>
        </p:txBody>
      </p:sp>
      <p:sp>
        <p:nvSpPr>
          <p:cNvPr id="5" name="Text 3"/>
          <p:cNvSpPr/>
          <p:nvPr/>
        </p:nvSpPr>
        <p:spPr>
          <a:xfrm>
            <a:off x="762000" y="1635770"/>
            <a:ext cx="6395613" cy="558105"/>
          </a:xfrm>
          <a:prstGeom prst="rect">
            <a:avLst/>
          </a:prstGeom>
          <a:noFill/>
          <a:ln/>
        </p:spPr>
        <p:txBody>
          <a:bodyPr wrap="square" lIns="25400" tIns="25400" rIns="25400" bIns="25400" rtlCol="0" anchor="t">
            <a:normAutofit/>
          </a:bodyPr>
          <a:lstStyle/>
          <a:p>
            <a:pPr algn="l" indent="0" marL="0">
              <a:lnSpc>
                <a:spcPct val="105000"/>
              </a:lnSpc>
              <a:buNone/>
            </a:pPr>
            <a:r>
              <a:rPr lang="en-US" sz="3900" b="1" spc="-58" kern="0" dirty="0">
                <a:solidFill>
                  <a:srgbClr val="FBF6EA"/>
                </a:solidFill>
                <a:latin typeface="Source Serif 4" pitchFamily="34" charset="0"/>
                <a:ea typeface="Source Serif 4" pitchFamily="34" charset="-122"/>
                <a:cs typeface="Source Serif 4" pitchFamily="34" charset="-120"/>
              </a:rPr>
              <a:t>Full rearrangement demo.</a:t>
            </a:r>
            <a:endParaRPr lang="en-US" sz="3900" dirty="0"/>
          </a:p>
        </p:txBody>
      </p:sp>
      <p:sp>
        <p:nvSpPr>
          <p:cNvPr id="6" name="Text 4"/>
          <p:cNvSpPr/>
          <p:nvPr/>
        </p:nvSpPr>
        <p:spPr>
          <a:xfrm>
            <a:off x="11966972" y="1238250"/>
            <a:ext cx="5725799" cy="335607"/>
          </a:xfrm>
          <a:prstGeom prst="rect">
            <a:avLst/>
          </a:prstGeom>
          <a:noFill/>
          <a:ln/>
        </p:spPr>
        <p:txBody>
          <a:bodyPr wrap="square" lIns="25400" tIns="25400" rIns="25400" bIns="25400" rtlCol="0" anchor="t">
            <a:normAutofit/>
          </a:bodyPr>
          <a:lstStyle/>
          <a:p>
            <a:pPr algn="l" indent="0" marL="0">
              <a:lnSpc>
                <a:spcPct val="142000"/>
              </a:lnSpc>
              <a:buNone/>
            </a:pPr>
            <a:r>
              <a:rPr lang="en-US" sz="1650" spc="132" kern="0" dirty="0">
                <a:solidFill>
                  <a:srgbClr val="FFFFFF">
                    <a:alpha val="55000"/>
                  </a:srgbClr>
                </a:solidFill>
                <a:latin typeface="JetBrains Mono" pitchFamily="34" charset="0"/>
                <a:ea typeface="JetBrains Mono" pitchFamily="34" charset="-122"/>
                <a:cs typeface="JetBrains Mono" pitchFamily="34" charset="-120"/>
              </a:rPr>
              <a:t>instruction → plan → nav → pick → place</a:t>
            </a:r>
            <a:endParaRPr lang="en-US" sz="1650" dirty="0"/>
          </a:p>
        </p:txBody>
      </p:sp>
      <p:sp>
        <p:nvSpPr>
          <p:cNvPr id="7" name="Shape 5"/>
          <p:cNvSpPr/>
          <p:nvPr/>
        </p:nvSpPr>
        <p:spPr>
          <a:xfrm>
            <a:off x="942975" y="2346275"/>
            <a:ext cx="16402050" cy="9234488"/>
          </a:xfrm>
          <a:prstGeom prst="rect">
            <a:avLst/>
          </a:prstGeom>
          <a:solidFill>
            <a:srgbClr val="0A0B0D"/>
          </a:solidFill>
          <a:ln w="9525">
            <a:solidFill>
              <a:srgbClr val="2C2F34"/>
            </a:solidFill>
            <a:prstDash val="solid"/>
          </a:ln>
        </p:spPr>
      </p:sp>
      <p:sp>
        <p:nvSpPr>
          <p:cNvPr id="8" name="Shape 6"/>
          <p:cNvSpPr/>
          <p:nvPr/>
        </p:nvSpPr>
        <p:spPr>
          <a:xfrm>
            <a:off x="952500" y="2355800"/>
            <a:ext cx="16383000" cy="9215438"/>
          </a:xfrm>
          <a:prstGeom prst="rect">
            <a:avLst/>
          </a:prstGeom>
          <a:solidFill>
            <a:srgbClr val="000000"/>
          </a:solidFill>
          <a:ln/>
        </p:spPr>
      </p:sp>
      <p:sp>
        <p:nvSpPr>
          <p:cNvPr id="9" name="Text 7"/>
          <p:cNvSpPr/>
          <p:nvPr/>
        </p:nvSpPr>
        <p:spPr>
          <a:xfrm>
            <a:off x="6424354" y="6357565"/>
            <a:ext cx="5439218" cy="800100"/>
          </a:xfrm>
          <a:prstGeom prst="rect">
            <a:avLst/>
          </a:prstGeom>
          <a:noFill/>
          <a:ln/>
        </p:spPr>
        <p:txBody>
          <a:bodyPr wrap="square" lIns="25400" tIns="25400" rIns="25400" bIns="25400" rtlCol="0" anchor="t">
            <a:normAutofit/>
          </a:bodyPr>
          <a:lstStyle/>
          <a:p>
            <a:pPr algn="ctr" indent="0" marL="0">
              <a:lnSpc>
                <a:spcPct val="100000"/>
              </a:lnSpc>
              <a:buNone/>
            </a:pPr>
            <a:r>
              <a:rPr lang="en-US" sz="6000" spc="198" kern="0" dirty="0">
                <a:solidFill>
                  <a:srgbClr val="FFFFFF">
                    <a:alpha val="17000"/>
                  </a:srgbClr>
                </a:solidFill>
                <a:latin typeface="JetBrains Mono" pitchFamily="34" charset="0"/>
                <a:ea typeface="JetBrains Mono" pitchFamily="34" charset="-122"/>
                <a:cs typeface="JetBrains Mono" pitchFamily="34" charset="-120"/>
              </a:rPr>
              <a:t>▶</a:t>
            </a:r>
            <a:endParaRPr lang="en-US" sz="6000" dirty="0"/>
          </a:p>
        </p:txBody>
      </p:sp>
      <p:sp>
        <p:nvSpPr>
          <p:cNvPr id="10" name="Text 8"/>
          <p:cNvSpPr/>
          <p:nvPr/>
        </p:nvSpPr>
        <p:spPr>
          <a:xfrm>
            <a:off x="6503566" y="7281490"/>
            <a:ext cx="679772" cy="314325"/>
          </a:xfrm>
          <a:prstGeom prst="rect">
            <a:avLst/>
          </a:prstGeom>
          <a:noFill/>
          <a:ln/>
        </p:spPr>
        <p:txBody>
          <a:bodyPr wrap="square" lIns="0" tIns="0" rIns="0" bIns="0" rtlCol="0" anchor="t">
            <a:normAutofit/>
          </a:bodyPr>
          <a:lstStyle/>
          <a:p>
            <a:pPr algn="ctr" indent="0" marL="0">
              <a:lnSpc>
                <a:spcPct val="142000"/>
              </a:lnSpc>
              <a:buNone/>
            </a:pPr>
            <a:r>
              <a:rPr lang="en-US" sz="1650" spc="198" kern="0" dirty="0">
                <a:solidFill>
                  <a:srgbClr val="FFFFFF">
                    <a:alpha val="35000"/>
                  </a:srgbClr>
                </a:solidFill>
                <a:latin typeface="JetBrains Mono" pitchFamily="34" charset="0"/>
                <a:ea typeface="JetBrains Mono" pitchFamily="34" charset="-122"/>
                <a:cs typeface="JetBrains Mono" pitchFamily="34" charset="-120"/>
              </a:rPr>
              <a:t>DROP</a:t>
            </a:r>
            <a:endParaRPr lang="en-US" sz="1650" dirty="0"/>
          </a:p>
        </p:txBody>
      </p:sp>
      <p:sp>
        <p:nvSpPr>
          <p:cNvPr id="11" name="Text 9"/>
          <p:cNvSpPr/>
          <p:nvPr/>
        </p:nvSpPr>
        <p:spPr>
          <a:xfrm>
            <a:off x="7219876" y="7281490"/>
            <a:ext cx="1283271" cy="314325"/>
          </a:xfrm>
          <a:prstGeom prst="rect">
            <a:avLst/>
          </a:prstGeom>
          <a:noFill/>
          <a:ln/>
        </p:spPr>
        <p:txBody>
          <a:bodyPr wrap="square" lIns="25400" tIns="25400" rIns="25400" bIns="25400" rtlCol="0" anchor="t">
            <a:normAutofit/>
          </a:bodyPr>
          <a:lstStyle/>
          <a:p>
            <a:pPr algn="ctr" indent="0" marL="0">
              <a:lnSpc>
                <a:spcPct val="142000"/>
              </a:lnSpc>
              <a:buNone/>
            </a:pPr>
            <a:r>
              <a:rPr lang="en-US" sz="1650" spc="198" kern="0" dirty="0">
                <a:solidFill>
                  <a:srgbClr val="E8B4B8"/>
                </a:solidFill>
                <a:latin typeface="JetBrains Mono" pitchFamily="34" charset="0"/>
                <a:ea typeface="JetBrains Mono" pitchFamily="34" charset="-122"/>
                <a:cs typeface="JetBrains Mono" pitchFamily="34" charset="-120"/>
              </a:rPr>
              <a:t>DEMO.MP4</a:t>
            </a:r>
            <a:endParaRPr lang="en-US" sz="1650" dirty="0"/>
          </a:p>
        </p:txBody>
      </p:sp>
      <p:sp>
        <p:nvSpPr>
          <p:cNvPr id="12" name="Text 10"/>
          <p:cNvSpPr/>
          <p:nvPr/>
        </p:nvSpPr>
        <p:spPr>
          <a:xfrm>
            <a:off x="8615883" y="7281490"/>
            <a:ext cx="3263531" cy="314325"/>
          </a:xfrm>
          <a:prstGeom prst="rect">
            <a:avLst/>
          </a:prstGeom>
          <a:noFill/>
          <a:ln/>
        </p:spPr>
        <p:txBody>
          <a:bodyPr wrap="square" lIns="0" tIns="0" rIns="0" bIns="0" rtlCol="0" anchor="t">
            <a:normAutofit/>
          </a:bodyPr>
          <a:lstStyle/>
          <a:p>
            <a:pPr algn="ctr" indent="0" marL="0">
              <a:lnSpc>
                <a:spcPct val="142000"/>
              </a:lnSpc>
              <a:buNone/>
            </a:pPr>
            <a:r>
              <a:rPr lang="en-US" sz="1650" spc="198" kern="0" dirty="0">
                <a:solidFill>
                  <a:srgbClr val="FFFFFF">
                    <a:alpha val="35000"/>
                  </a:srgbClr>
                </a:solidFill>
                <a:latin typeface="JetBrains Mono" pitchFamily="34" charset="0"/>
                <a:ea typeface="JetBrains Mono" pitchFamily="34" charset="-122"/>
                <a:cs typeface="JetBrains Mono" pitchFamily="34" charset="-120"/>
              </a:rPr>
              <a:t>IN THE PROJECT FOLDER</a:t>
            </a:r>
            <a:endParaRPr lang="en-US" sz="1650" dirty="0"/>
          </a:p>
        </p:txBody>
      </p:sp>
      <p:sp>
        <p:nvSpPr>
          <p:cNvPr id="13" name="Text 11"/>
          <p:cNvSpPr/>
          <p:nvPr/>
        </p:nvSpPr>
        <p:spPr>
          <a:xfrm>
            <a:off x="762000" y="11771263"/>
            <a:ext cx="5698513" cy="308595"/>
          </a:xfrm>
          <a:prstGeom prst="rect">
            <a:avLst/>
          </a:prstGeom>
          <a:noFill/>
          <a:ln/>
        </p:spPr>
        <p:txBody>
          <a:bodyPr wrap="square" lIns="25400" tIns="25400" rIns="25400" bIns="25400" rtlCol="0" anchor="t">
            <a:normAutofit/>
          </a:bodyPr>
          <a:lstStyle/>
          <a:p>
            <a:pPr algn="l" indent="0" marL="0">
              <a:lnSpc>
                <a:spcPct val="142000"/>
              </a:lnSpc>
              <a:buNone/>
            </a:pPr>
            <a:r>
              <a:rPr lang="en-US" sz="1500" spc="90" kern="0" dirty="0">
                <a:solidFill>
                  <a:srgbClr val="FFFFFF">
                    <a:alpha val="50000"/>
                  </a:srgbClr>
                </a:solidFill>
                <a:latin typeface="JetBrains Mono" pitchFamily="34" charset="0"/>
                <a:ea typeface="JetBrains Mono" pitchFamily="34" charset="-122"/>
                <a:cs typeface="JetBrains Mono" pitchFamily="34" charset="-120"/>
              </a:rPr>
              <a:t>FIG 4 · Stretch 3 · two cups → regions A &amp; B</a:t>
            </a:r>
            <a:endParaRPr lang="en-US" sz="1500" dirty="0"/>
          </a:p>
        </p:txBody>
      </p:sp>
      <p:sp>
        <p:nvSpPr>
          <p:cNvPr id="14" name="Text 12"/>
          <p:cNvSpPr/>
          <p:nvPr/>
        </p:nvSpPr>
        <p:spPr>
          <a:xfrm>
            <a:off x="15811054" y="11771263"/>
            <a:ext cx="1791146" cy="308595"/>
          </a:xfrm>
          <a:prstGeom prst="rect">
            <a:avLst/>
          </a:prstGeom>
          <a:noFill/>
          <a:ln/>
        </p:spPr>
        <p:txBody>
          <a:bodyPr wrap="square" lIns="25400" tIns="25400" rIns="25400" bIns="25400" rtlCol="0" anchor="t">
            <a:normAutofit/>
          </a:bodyPr>
          <a:lstStyle/>
          <a:p>
            <a:pPr algn="l" indent="0" marL="0">
              <a:lnSpc>
                <a:spcPct val="142000"/>
              </a:lnSpc>
              <a:buNone/>
            </a:pPr>
            <a:r>
              <a:rPr lang="en-US" sz="1500" dirty="0">
                <a:solidFill>
                  <a:srgbClr val="FFFFFF">
                    <a:alpha val="50000"/>
                  </a:srgbClr>
                </a:solidFill>
                <a:latin typeface="JetBrains Mono" pitchFamily="34" charset="0"/>
                <a:ea typeface="JetBrains Mono" pitchFamily="34" charset="-122"/>
                <a:cs typeface="JetBrains Mono" pitchFamily="34" charset="-120"/>
              </a:rPr>
              <a:t>press ▶ to play</a:t>
            </a:r>
            <a:endParaRPr lang="en-US" sz="1500" dirty="0"/>
          </a:p>
        </p:txBody>
      </p:sp>
      <p:sp>
        <p:nvSpPr>
          <p:cNvPr id="15" name="Text 13"/>
          <p:cNvSpPr/>
          <p:nvPr/>
        </p:nvSpPr>
        <p:spPr>
          <a:xfrm>
            <a:off x="762000" y="9624492"/>
            <a:ext cx="3632583"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FFFFFF">
                    <a:alpha val="40000"/>
                  </a:srgbClr>
                </a:solidFill>
                <a:latin typeface="-apple-system" pitchFamily="34" charset="0"/>
                <a:ea typeface="-apple-system" pitchFamily="34" charset="-122"/>
                <a:cs typeface="-apple-system" pitchFamily="34" charset="-120"/>
              </a:rPr>
              <a:t>16-762 · STRETCH REARRANGEMENT</a:t>
            </a:r>
            <a:endParaRPr lang="en-US" sz="1350" dirty="0"/>
          </a:p>
        </p:txBody>
      </p:sp>
      <p:sp>
        <p:nvSpPr>
          <p:cNvPr id="16" name="Text 14"/>
          <p:cNvSpPr/>
          <p:nvPr/>
        </p:nvSpPr>
        <p:spPr>
          <a:xfrm>
            <a:off x="17320543" y="9624492"/>
            <a:ext cx="281657" cy="281508"/>
          </a:xfrm>
          <a:prstGeom prst="rect">
            <a:avLst/>
          </a:prstGeom>
          <a:noFill/>
          <a:ln/>
        </p:spPr>
        <p:txBody>
          <a:bodyPr wrap="square" lIns="25400" tIns="25400" rIns="25400" bIns="25400" rtlCol="0" anchor="t">
            <a:normAutofit/>
          </a:bodyPr>
          <a:lstStyle/>
          <a:p>
            <a:pPr algn="l" indent="0" marL="0">
              <a:lnSpc>
                <a:spcPct val="142000"/>
              </a:lnSpc>
              <a:buNone/>
            </a:pPr>
            <a:r>
              <a:rPr lang="en-US" sz="1350" spc="108" kern="0" dirty="0">
                <a:solidFill>
                  <a:srgbClr val="FFFFFF">
                    <a:alpha val="40000"/>
                  </a:srgbClr>
                </a:solidFill>
                <a:latin typeface="-apple-system" pitchFamily="34" charset="0"/>
                <a:ea typeface="-apple-system" pitchFamily="34" charset="-122"/>
                <a:cs typeface="-apple-system" pitchFamily="34" charset="-120"/>
              </a:rPr>
              <a:t>11</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2026-04-20T16:52:39Z</dcterms:created>
  <dcterms:modified xsi:type="dcterms:W3CDTF">2026-04-20T16:52:39Z</dcterms:modified>
</cp:coreProperties>
</file>